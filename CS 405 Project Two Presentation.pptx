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2" r:id="rId13"/>
    <p:sldId id="271" r:id="rId14"/>
    <p:sldId id="270"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Hello, my name is Steven Davis, and this is my presentation for CS 405 Project Two: Security Policy for Green Pace. In this presentation, I will walk through our secure development policy, explain key vulnerabilities, and demonstrate how we use testing and automation to reduce security risks.</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Green Pace Secure Development Policy is designed to prevent common vulnerabilities and reduce the risk of security breaches. It follows a defense-in-depth strategy, meaning we apply multiple layers of security rather than relying on a single control.</a:t>
            </a:r>
          </a:p>
          <a:p>
            <a:r>
              <a:rPr lang="en-US" sz="1100" b="0" i="0" u="none" strike="noStrike" cap="none" dirty="0">
                <a:solidFill>
                  <a:srgbClr val="000000"/>
                </a:solidFill>
                <a:effectLst/>
                <a:latin typeface="Arial"/>
                <a:ea typeface="Arial"/>
                <a:cs typeface="Arial"/>
                <a:sym typeface="Arial"/>
              </a:rPr>
              <a:t>This policy ensures that secure coding practices are consistently applied across the development team and that security is integrated into every phase of development.</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threats matrix identifies vulnerabilities and categorizes them by risk level.</a:t>
            </a:r>
          </a:p>
          <a:p>
            <a:r>
              <a:rPr lang="en-US" sz="1100" b="0" i="0" u="none" strike="noStrike" cap="none" dirty="0">
                <a:solidFill>
                  <a:srgbClr val="000000"/>
                </a:solidFill>
                <a:effectLst/>
                <a:latin typeface="Arial"/>
                <a:ea typeface="Arial"/>
                <a:cs typeface="Arial"/>
                <a:sym typeface="Arial"/>
              </a:rPr>
              <a:t>High-risk issues include null-pointer dereferences, buffer overflows, memory allocation failures, pointer-ownership errors, and data races. These can lead to crashes, data corruption, or even remote code execution.</a:t>
            </a:r>
          </a:p>
          <a:p>
            <a:r>
              <a:rPr lang="en-US" sz="1100" b="0" i="0" u="none" strike="noStrike" cap="none" dirty="0">
                <a:solidFill>
                  <a:srgbClr val="000000"/>
                </a:solidFill>
                <a:effectLst/>
                <a:latin typeface="Arial"/>
                <a:ea typeface="Arial"/>
                <a:cs typeface="Arial"/>
                <a:sym typeface="Arial"/>
              </a:rPr>
              <a:t>Medium-risk issues include missing return values and </a:t>
            </a:r>
            <a:r>
              <a:rPr lang="en-US" sz="1100" b="0" i="0" u="none" strike="noStrike" cap="none" dirty="0" err="1">
                <a:solidFill>
                  <a:srgbClr val="000000"/>
                </a:solidFill>
                <a:effectLst/>
                <a:latin typeface="Arial"/>
                <a:ea typeface="Arial"/>
                <a:cs typeface="Arial"/>
                <a:sym typeface="Arial"/>
              </a:rPr>
              <a:t>enum</a:t>
            </a:r>
            <a:r>
              <a:rPr lang="en-US" sz="1100" b="0" i="0" u="none" strike="noStrike" cap="none" dirty="0">
                <a:solidFill>
                  <a:srgbClr val="000000"/>
                </a:solidFill>
                <a:effectLst/>
                <a:latin typeface="Arial"/>
                <a:ea typeface="Arial"/>
                <a:cs typeface="Arial"/>
                <a:sym typeface="Arial"/>
              </a:rPr>
              <a:t> casting errors, which can cause undefined behavior.</a:t>
            </a:r>
          </a:p>
          <a:p>
            <a:r>
              <a:rPr lang="en-US" sz="1100" b="0" i="0" u="none" strike="noStrike" cap="none" dirty="0">
                <a:solidFill>
                  <a:srgbClr val="000000"/>
                </a:solidFill>
                <a:effectLst/>
                <a:latin typeface="Arial"/>
                <a:ea typeface="Arial"/>
                <a:cs typeface="Arial"/>
                <a:sym typeface="Arial"/>
              </a:rPr>
              <a:t>Low-risk issues include reserved identifiers and minor coding inconsistencies, which can still cause maintainability and reliability problems.</a:t>
            </a:r>
          </a:p>
          <a:p>
            <a:r>
              <a:rPr lang="en-US" sz="1100" b="0" i="0" u="none" strike="noStrike" cap="none" dirty="0">
                <a:solidFill>
                  <a:srgbClr val="000000"/>
                </a:solidFill>
                <a:effectLst/>
                <a:latin typeface="Arial"/>
                <a:ea typeface="Arial"/>
                <a:cs typeface="Arial"/>
                <a:sym typeface="Arial"/>
              </a:rPr>
              <a:t>This matrix helps prioritize which vulnerabilities to address first.</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Our policy is built on 10 guiding security principles.</a:t>
            </a:r>
          </a:p>
          <a:p>
            <a:r>
              <a:rPr lang="en-US" sz="1100" b="0" i="0" u="none" strike="noStrike" cap="none" dirty="0">
                <a:solidFill>
                  <a:srgbClr val="000000"/>
                </a:solidFill>
                <a:effectLst/>
                <a:latin typeface="Arial"/>
                <a:ea typeface="Arial"/>
                <a:cs typeface="Arial"/>
                <a:sym typeface="Arial"/>
              </a:rPr>
              <a:t>These include validating input data, heeding compiler warnings, designing for security, keeping systems simple, using default deny, enforcing least privilege, sanitizing outputs, applying defense-in-depth, ensuring effective quality assurance, and adopting secure coding standards.</a:t>
            </a:r>
          </a:p>
          <a:p>
            <a:r>
              <a:rPr lang="en-US" sz="1100" b="0" i="0" u="none" strike="noStrike" cap="none" dirty="0">
                <a:solidFill>
                  <a:srgbClr val="000000"/>
                </a:solidFill>
                <a:effectLst/>
                <a:latin typeface="Arial"/>
                <a:ea typeface="Arial"/>
                <a:cs typeface="Arial"/>
                <a:sym typeface="Arial"/>
              </a:rPr>
              <a:t>Each principle is directly mapped to one or more coding standards, ensuring that our practices are both consistent and enforceable.</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coding standards are prioritized based on risk.</a:t>
            </a:r>
          </a:p>
          <a:p>
            <a:r>
              <a:rPr lang="en-US" sz="1100" b="0" i="0" u="none" strike="noStrike" cap="none" dirty="0">
                <a:solidFill>
                  <a:srgbClr val="000000"/>
                </a:solidFill>
                <a:effectLst/>
                <a:latin typeface="Arial"/>
                <a:ea typeface="Arial"/>
                <a:cs typeface="Arial"/>
                <a:sym typeface="Arial"/>
              </a:rPr>
              <a:t>High-priority standards include preventing null pointer dereferencing, handling memory allocation failures, and avoiding buffer overflows, because these can lead to severe vulnerabilities.</a:t>
            </a:r>
          </a:p>
          <a:p>
            <a:r>
              <a:rPr lang="en-US" sz="1100" b="0" i="0" u="none" strike="noStrike" cap="none" dirty="0">
                <a:solidFill>
                  <a:srgbClr val="000000"/>
                </a:solidFill>
                <a:effectLst/>
                <a:latin typeface="Arial"/>
                <a:ea typeface="Arial"/>
                <a:cs typeface="Arial"/>
                <a:sym typeface="Arial"/>
              </a:rPr>
              <a:t>Lower-priority standards, such as avoiding reserved identifiers, are still important but have less immediate impact on system security.</a:t>
            </a:r>
          </a:p>
          <a:p>
            <a:r>
              <a:rPr lang="en-US" sz="1100" b="0" i="0" u="none" strike="noStrike" cap="none" dirty="0">
                <a:solidFill>
                  <a:srgbClr val="000000"/>
                </a:solidFill>
                <a:effectLst/>
                <a:latin typeface="Arial"/>
                <a:ea typeface="Arial"/>
                <a:cs typeface="Arial"/>
                <a:sym typeface="Arial"/>
              </a:rPr>
              <a:t>This prioritization ensures that developers focus first on the most critical risks.</a:t>
            </a: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Our encryption strategy covers data at rest, in transit, and in use.</a:t>
            </a:r>
          </a:p>
          <a:p>
            <a:r>
              <a:rPr lang="en-US" dirty="0"/>
              <a:t>For data at rest, we use strong encryption such as AES-256 to protect stored data.</a:t>
            </a:r>
          </a:p>
          <a:p>
            <a:r>
              <a:rPr lang="en-US" dirty="0"/>
              <a:t>For data in transit, we use secure communication protocols like TLS to prevent interception and man-in-the-middle attacks.</a:t>
            </a:r>
          </a:p>
          <a:p>
            <a:r>
              <a:rPr lang="en-US" dirty="0"/>
              <a:t>For data in use, we protect sensitive information during processing to minimize exposure.</a:t>
            </a:r>
          </a:p>
          <a:p>
            <a:r>
              <a:rPr lang="en-US" dirty="0"/>
              <a:t>It’s important to note that encryption is only as strong as its key management, so secure storage and rotation of keys are also critical.</a:t>
            </a: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Triple-A framework includes authentication, authorization, and accounting.</a:t>
            </a:r>
          </a:p>
          <a:p>
            <a:r>
              <a:rPr lang="en-US" sz="1100" b="0" i="0" u="none" strike="noStrike" cap="none" dirty="0">
                <a:solidFill>
                  <a:srgbClr val="000000"/>
                </a:solidFill>
                <a:effectLst/>
                <a:latin typeface="Arial"/>
                <a:ea typeface="Arial"/>
                <a:cs typeface="Arial"/>
                <a:sym typeface="Arial"/>
              </a:rPr>
              <a:t>Authentication ensures that only verified users can access the system, using passwords and multi-factor authentication.</a:t>
            </a:r>
          </a:p>
          <a:p>
            <a:r>
              <a:rPr lang="en-US" sz="1100" b="0" i="0" u="none" strike="noStrike" cap="none" dirty="0">
                <a:solidFill>
                  <a:srgbClr val="000000"/>
                </a:solidFill>
                <a:effectLst/>
                <a:latin typeface="Arial"/>
                <a:ea typeface="Arial"/>
                <a:cs typeface="Arial"/>
                <a:sym typeface="Arial"/>
              </a:rPr>
              <a:t>Authorization controls what users are allowed to do, using role-based access control and the principle of least privilege.</a:t>
            </a:r>
          </a:p>
          <a:p>
            <a:r>
              <a:rPr lang="en-US" sz="1100" b="0" i="0" u="none" strike="noStrike" cap="none" dirty="0">
                <a:solidFill>
                  <a:srgbClr val="000000"/>
                </a:solidFill>
                <a:effectLst/>
                <a:latin typeface="Arial"/>
                <a:ea typeface="Arial"/>
                <a:cs typeface="Arial"/>
                <a:sym typeface="Arial"/>
              </a:rPr>
              <a:t>Accounting involves logging and monitoring user activity to ensure accountability and support auditing and compliance.</a:t>
            </a:r>
          </a:p>
          <a:p>
            <a:r>
              <a:rPr lang="en-US" sz="1100" b="0" i="0" u="none" strike="noStrike" cap="none" dirty="0">
                <a:solidFill>
                  <a:srgbClr val="000000"/>
                </a:solidFill>
                <a:effectLst/>
                <a:latin typeface="Arial"/>
                <a:ea typeface="Arial"/>
                <a:cs typeface="Arial"/>
                <a:sym typeface="Arial"/>
              </a:rPr>
              <a:t>Together, these controls help protect system access and track usage.</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test verifies that entries are correctly added to a collection.</a:t>
            </a:r>
          </a:p>
          <a:p>
            <a:r>
              <a:rPr lang="en-US" sz="1100" b="0" i="0" u="none" strike="noStrike" cap="none" dirty="0">
                <a:solidFill>
                  <a:srgbClr val="000000"/>
                </a:solidFill>
                <a:effectLst/>
                <a:latin typeface="Arial"/>
                <a:ea typeface="Arial"/>
                <a:cs typeface="Arial"/>
                <a:sym typeface="Arial"/>
              </a:rPr>
              <a:t>The issue identified was incorrect pointer handling and assumptions about how the function behaves.</a:t>
            </a:r>
          </a:p>
          <a:p>
            <a:r>
              <a:rPr lang="en-US" sz="1100" b="0" i="0" u="none" strike="noStrike" cap="none" dirty="0">
                <a:solidFill>
                  <a:srgbClr val="000000"/>
                </a:solidFill>
                <a:effectLst/>
                <a:latin typeface="Arial"/>
                <a:ea typeface="Arial"/>
                <a:cs typeface="Arial"/>
                <a:sym typeface="Arial"/>
              </a:rPr>
              <a:t>We fix this by ensuring elements are properly pushed and ownership is handled correctly.</a:t>
            </a:r>
          </a:p>
          <a:p>
            <a:r>
              <a:rPr lang="en-US" sz="1100" b="0" i="0" u="none" strike="noStrike" cap="none" dirty="0">
                <a:solidFill>
                  <a:srgbClr val="000000"/>
                </a:solidFill>
                <a:effectLst/>
                <a:latin typeface="Arial"/>
                <a:ea typeface="Arial"/>
                <a:cs typeface="Arial"/>
                <a:sym typeface="Arial"/>
              </a:rPr>
              <a:t>To improve further, we can add boundary tests and automate regression testing.</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A10A7821-23B3-B430-F63D-92AB759E330E}"/>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7C9EEDE-E999-FF79-14B8-29CD3096E8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7E81902F-C481-BBC5-FE6D-8A30DFFABB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unit test checks that a collection using smart pointers is not null.</a:t>
            </a:r>
          </a:p>
          <a:p>
            <a:r>
              <a:rPr lang="en-US" sz="1100" b="0" i="0" u="none" strike="noStrike" cap="none" dirty="0">
                <a:solidFill>
                  <a:srgbClr val="000000"/>
                </a:solidFill>
                <a:effectLst/>
                <a:latin typeface="Arial"/>
                <a:ea typeface="Arial"/>
                <a:cs typeface="Arial"/>
                <a:sym typeface="Arial"/>
              </a:rPr>
              <a:t>The vulnerability here is a potential null pointer dereference.</a:t>
            </a:r>
          </a:p>
          <a:p>
            <a:r>
              <a:rPr lang="en-US" sz="1100" b="0" i="0" u="none" strike="noStrike" cap="none" dirty="0">
                <a:solidFill>
                  <a:srgbClr val="000000"/>
                </a:solidFill>
                <a:effectLst/>
                <a:latin typeface="Arial"/>
                <a:ea typeface="Arial"/>
                <a:cs typeface="Arial"/>
                <a:sym typeface="Arial"/>
              </a:rPr>
              <a:t>We fix this by ensuring proper initialization and adding null checks before accessing the pointer.</a:t>
            </a:r>
          </a:p>
          <a:p>
            <a:r>
              <a:rPr lang="en-US" sz="1100" b="0" i="0" u="none" strike="noStrike" cap="none" dirty="0">
                <a:solidFill>
                  <a:srgbClr val="000000"/>
                </a:solidFill>
                <a:effectLst/>
                <a:latin typeface="Arial"/>
                <a:ea typeface="Arial"/>
                <a:cs typeface="Arial"/>
                <a:sym typeface="Arial"/>
              </a:rPr>
              <a:t>To take this further, we can integrate this test into the CI pipeline and combine it with static analysis tools to automatically catch similar issues.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02148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E8F6A45-0883-4CAD-8A59-60DBC06518E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488A829-166C-ED09-FB7E-FC4791D0FA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6F1937D-AD8D-A089-0CC5-E378192F53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test checks for out-of-range errors when accessing elements.</a:t>
            </a:r>
          </a:p>
          <a:p>
            <a:r>
              <a:rPr lang="en-US" sz="1100" b="0" i="0" u="none" strike="noStrike" cap="none" dirty="0">
                <a:solidFill>
                  <a:srgbClr val="000000"/>
                </a:solidFill>
                <a:effectLst/>
                <a:latin typeface="Arial"/>
                <a:ea typeface="Arial"/>
                <a:cs typeface="Arial"/>
                <a:sym typeface="Arial"/>
              </a:rPr>
              <a:t>The vulnerability is the lack of exception handling for invalid indices.</a:t>
            </a:r>
          </a:p>
          <a:p>
            <a:r>
              <a:rPr lang="en-US" sz="1100" b="0" i="0" u="none" strike="noStrike" cap="none" dirty="0">
                <a:solidFill>
                  <a:srgbClr val="000000"/>
                </a:solidFill>
                <a:effectLst/>
                <a:latin typeface="Arial"/>
                <a:ea typeface="Arial"/>
                <a:cs typeface="Arial"/>
                <a:sym typeface="Arial"/>
              </a:rPr>
              <a:t>We fix this by adding proper checks and exception handling.</a:t>
            </a:r>
          </a:p>
          <a:p>
            <a:r>
              <a:rPr lang="en-US" sz="1100" b="0" i="0" u="none" strike="noStrike" cap="none" dirty="0">
                <a:solidFill>
                  <a:srgbClr val="000000"/>
                </a:solidFill>
                <a:effectLst/>
                <a:latin typeface="Arial"/>
                <a:ea typeface="Arial"/>
                <a:cs typeface="Arial"/>
                <a:sym typeface="Arial"/>
              </a:rPr>
              <a:t>To go further, we can implement fuzz testing to simulate unexpected inputs and ensure robustness.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15340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69DE342-11D4-3312-687E-65ABF27DAD0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ECA2CF1-C195-667C-6AF4-E2F15D832D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CC7A58EA-564F-C0E3-8C92-57BD31312C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test verifies behavior when resizing a collection to zero.</a:t>
            </a:r>
          </a:p>
          <a:p>
            <a:r>
              <a:rPr lang="en-US" sz="1100" b="0" i="0" u="none" strike="noStrike" cap="none" dirty="0">
                <a:solidFill>
                  <a:srgbClr val="000000"/>
                </a:solidFill>
                <a:effectLst/>
                <a:latin typeface="Arial"/>
                <a:ea typeface="Arial"/>
                <a:cs typeface="Arial"/>
                <a:sym typeface="Arial"/>
              </a:rPr>
              <a:t>The issue was incorrect assumptions about size and capacity.</a:t>
            </a:r>
          </a:p>
          <a:p>
            <a:r>
              <a:rPr lang="en-US" sz="1100" b="0" i="0" u="none" strike="noStrike" cap="none" dirty="0">
                <a:solidFill>
                  <a:srgbClr val="000000"/>
                </a:solidFill>
                <a:effectLst/>
                <a:latin typeface="Arial"/>
                <a:ea typeface="Arial"/>
                <a:cs typeface="Arial"/>
                <a:sym typeface="Arial"/>
              </a:rPr>
              <a:t>We fix this by properly handling resize operations and checking memory allocation.</a:t>
            </a:r>
          </a:p>
          <a:p>
            <a:r>
              <a:rPr lang="en-US" sz="1100" b="0" i="0" u="none" strike="noStrike" cap="none" dirty="0">
                <a:solidFill>
                  <a:srgbClr val="000000"/>
                </a:solidFill>
                <a:effectLst/>
                <a:latin typeface="Arial"/>
                <a:ea typeface="Arial"/>
                <a:cs typeface="Arial"/>
                <a:sym typeface="Arial"/>
              </a:rPr>
              <a:t>To enhance this, we can use memory sanitizers like </a:t>
            </a:r>
            <a:r>
              <a:rPr lang="en-US" sz="1100" b="0" i="0" u="none" strike="noStrike" cap="none" dirty="0" err="1">
                <a:solidFill>
                  <a:srgbClr val="000000"/>
                </a:solidFill>
                <a:effectLst/>
                <a:latin typeface="Arial"/>
                <a:ea typeface="Arial"/>
                <a:cs typeface="Arial"/>
                <a:sym typeface="Arial"/>
              </a:rPr>
              <a:t>AddressSanitizer</a:t>
            </a:r>
            <a:r>
              <a:rPr lang="en-US" sz="1100" b="0" i="0" u="none" strike="noStrike" cap="none" dirty="0">
                <a:solidFill>
                  <a:srgbClr val="000000"/>
                </a:solidFill>
                <a:effectLst/>
                <a:latin typeface="Arial"/>
                <a:ea typeface="Arial"/>
                <a:cs typeface="Arial"/>
                <a:sym typeface="Arial"/>
              </a:rPr>
              <a:t> to detect memory-related issues.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038043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Security automation is integrated throughout the </a:t>
            </a:r>
            <a:r>
              <a:rPr lang="en-US" dirty="0" err="1"/>
              <a:t>DevSecOps</a:t>
            </a:r>
            <a:r>
              <a:rPr lang="en-US" dirty="0"/>
              <a:t> lifecycle.</a:t>
            </a:r>
          </a:p>
          <a:p>
            <a:r>
              <a:rPr lang="en-US" dirty="0"/>
              <a:t>In the planning phase, we perform threat modeling.</a:t>
            </a:r>
          </a:p>
          <a:p>
            <a:r>
              <a:rPr lang="en-US" dirty="0"/>
              <a:t>During development, we use IDE tools like </a:t>
            </a:r>
            <a:r>
              <a:rPr lang="en-US" dirty="0" err="1"/>
              <a:t>SonarLint</a:t>
            </a:r>
            <a:r>
              <a:rPr lang="en-US" dirty="0"/>
              <a:t> to catch issues early.</a:t>
            </a:r>
          </a:p>
          <a:p>
            <a:r>
              <a:rPr lang="en-US" dirty="0"/>
              <a:t>In the build phase, compilers and static analysis tools scan the code.</a:t>
            </a:r>
          </a:p>
          <a:p>
            <a:r>
              <a:rPr lang="en-US" dirty="0"/>
              <a:t>During testing, we run unit tests and sanitizers.</a:t>
            </a:r>
          </a:p>
          <a:p>
            <a:r>
              <a:rPr lang="en-US" dirty="0"/>
              <a:t>Before deployment, we use dynamic testing and fuzzing.</a:t>
            </a:r>
          </a:p>
          <a:p>
            <a:r>
              <a:rPr lang="en-US" dirty="0"/>
              <a:t>In production, we monitor systems using runtime protection and logging tools.</a:t>
            </a:r>
          </a:p>
          <a:p>
            <a:r>
              <a:rPr lang="en-US" dirty="0"/>
              <a:t>This continuous integration of security ensures vulnerabilities are caught as early as possible.</a:t>
            </a:r>
          </a:p>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slide shows the tools used across our </a:t>
            </a:r>
            <a:r>
              <a:rPr lang="en-US" dirty="0" err="1"/>
              <a:t>DevSecOps</a:t>
            </a:r>
            <a:r>
              <a:rPr lang="en-US" dirty="0"/>
              <a:t> process.</a:t>
            </a:r>
          </a:p>
          <a:p>
            <a:r>
              <a:rPr lang="en-US" dirty="0"/>
              <a:t>In the planning phase, we use tools like Jira and GitHub for threat modeling and tracking security work.</a:t>
            </a:r>
          </a:p>
          <a:p>
            <a:r>
              <a:rPr lang="en-US" dirty="0"/>
              <a:t>During development, developers use tools like </a:t>
            </a:r>
            <a:r>
              <a:rPr lang="en-US" dirty="0" err="1"/>
              <a:t>SonarLint</a:t>
            </a:r>
            <a:r>
              <a:rPr lang="en-US" dirty="0"/>
              <a:t>, clang-tidy, and </a:t>
            </a:r>
            <a:r>
              <a:rPr lang="en-US" dirty="0" err="1"/>
              <a:t>Cppcheck</a:t>
            </a:r>
            <a:r>
              <a:rPr lang="en-US" dirty="0"/>
              <a:t> to detect issues in real time.</a:t>
            </a:r>
          </a:p>
          <a:p>
            <a:r>
              <a:rPr lang="en-US" dirty="0"/>
              <a:t>In the verify and CI phase, we run builds, unit tests, and static analysis tools like </a:t>
            </a:r>
            <a:r>
              <a:rPr lang="en-US" dirty="0" err="1"/>
              <a:t>CodeSonar</a:t>
            </a:r>
            <a:r>
              <a:rPr lang="en-US" dirty="0"/>
              <a:t>, along with sanitizers such as </a:t>
            </a:r>
            <a:r>
              <a:rPr lang="en-US" dirty="0" err="1"/>
              <a:t>AddressSanitizer</a:t>
            </a:r>
            <a:r>
              <a:rPr lang="en-US" dirty="0"/>
              <a:t> and </a:t>
            </a:r>
            <a:r>
              <a:rPr lang="en-US" dirty="0" err="1"/>
              <a:t>UndefinedBehaviorSanitizer</a:t>
            </a:r>
            <a:r>
              <a:rPr lang="en-US" dirty="0"/>
              <a:t>.</a:t>
            </a:r>
          </a:p>
          <a:p>
            <a:r>
              <a:rPr lang="en-US" dirty="0"/>
              <a:t>In pre-production, we use OWASP ZAP, </a:t>
            </a:r>
            <a:r>
              <a:rPr lang="en-US" dirty="0" err="1"/>
              <a:t>libFuzzer</a:t>
            </a:r>
            <a:r>
              <a:rPr lang="en-US" dirty="0"/>
              <a:t>, and dependency scanning tools like </a:t>
            </a:r>
            <a:r>
              <a:rPr lang="en-US" dirty="0" err="1"/>
              <a:t>Snyk</a:t>
            </a:r>
            <a:r>
              <a:rPr lang="en-US" dirty="0"/>
              <a:t> to find runtime and input-based vulnerabilities.</a:t>
            </a:r>
          </a:p>
          <a:p>
            <a:r>
              <a:rPr lang="en-US" dirty="0"/>
              <a:t>Finally, in release and operations, we use tools like </a:t>
            </a:r>
            <a:r>
              <a:rPr lang="en-US" dirty="0" err="1"/>
              <a:t>Trivy</a:t>
            </a:r>
            <a:r>
              <a:rPr lang="en-US" dirty="0"/>
              <a:t>, SIEM systems, and runtime protection to monitor and maintain security.</a:t>
            </a:r>
          </a:p>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Addressing vulnerabilities early reduces the risk of breaches and lowers the cost of fixing issues.</a:t>
            </a:r>
          </a:p>
          <a:p>
            <a:r>
              <a:rPr lang="en-US" sz="1100" b="0" i="0" u="none" strike="noStrike" cap="none" dirty="0">
                <a:solidFill>
                  <a:srgbClr val="000000"/>
                </a:solidFill>
                <a:effectLst/>
                <a:latin typeface="Arial"/>
                <a:ea typeface="Arial"/>
                <a:cs typeface="Arial"/>
                <a:sym typeface="Arial"/>
              </a:rPr>
              <a:t>If we act now, we improve system security and reduce long-term maintenance costs.</a:t>
            </a:r>
          </a:p>
          <a:p>
            <a:r>
              <a:rPr lang="en-US" sz="1100" b="0" i="0" u="none" strike="noStrike" cap="none" dirty="0">
                <a:solidFill>
                  <a:srgbClr val="000000"/>
                </a:solidFill>
                <a:effectLst/>
                <a:latin typeface="Arial"/>
                <a:ea typeface="Arial"/>
                <a:cs typeface="Arial"/>
                <a:sym typeface="Arial"/>
              </a:rPr>
              <a:t>If we delay, vulnerabilities may be exploited, leading to higher costs, legal risks, and damage to reputation.</a:t>
            </a:r>
          </a:p>
          <a:p>
            <a:r>
              <a:rPr lang="en-US" sz="1100" b="0" i="0" u="none" strike="noStrike" cap="none" dirty="0">
                <a:solidFill>
                  <a:srgbClr val="000000"/>
                </a:solidFill>
                <a:effectLst/>
                <a:latin typeface="Arial"/>
                <a:ea typeface="Arial"/>
                <a:cs typeface="Arial"/>
                <a:sym typeface="Arial"/>
              </a:rPr>
              <a:t>While implementing security tools may require upfront effort, the long-term benefits outweigh the risks.</a:t>
            </a:r>
          </a:p>
          <a:p>
            <a:r>
              <a:rPr lang="en-US" sz="1100" b="0" i="0" u="none" strike="noStrike" cap="none" dirty="0">
                <a:solidFill>
                  <a:srgbClr val="000000"/>
                </a:solidFill>
                <a:effectLst/>
                <a:latin typeface="Arial"/>
                <a:ea typeface="Arial"/>
                <a:cs typeface="Arial"/>
                <a:sym typeface="Arial"/>
              </a:rPr>
              <a:t> </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There are still gaps in the current policy.</a:t>
            </a:r>
          </a:p>
          <a:p>
            <a:r>
              <a:rPr lang="en-US" sz="1100" b="0" i="0" u="none" strike="noStrike" cap="none" dirty="0">
                <a:solidFill>
                  <a:srgbClr val="000000"/>
                </a:solidFill>
                <a:effectLst/>
                <a:latin typeface="Arial"/>
                <a:ea typeface="Arial"/>
                <a:cs typeface="Arial"/>
                <a:sym typeface="Arial"/>
              </a:rPr>
              <a:t>We need stronger CI enforcement for memory management and concurrency issues.</a:t>
            </a:r>
          </a:p>
          <a:p>
            <a:r>
              <a:rPr lang="en-US" sz="1100" b="0" i="0" u="none" strike="noStrike" cap="none" dirty="0">
                <a:solidFill>
                  <a:srgbClr val="000000"/>
                </a:solidFill>
                <a:effectLst/>
                <a:latin typeface="Arial"/>
                <a:ea typeface="Arial"/>
                <a:cs typeface="Arial"/>
                <a:sym typeface="Arial"/>
              </a:rPr>
              <a:t>We should also implement mandatory developer training and secure coding templates.</a:t>
            </a:r>
          </a:p>
          <a:p>
            <a:r>
              <a:rPr lang="en-US" sz="1100" b="0" i="0" u="none" strike="noStrike" cap="none" dirty="0">
                <a:solidFill>
                  <a:srgbClr val="000000"/>
                </a:solidFill>
                <a:effectLst/>
                <a:latin typeface="Arial"/>
                <a:ea typeface="Arial"/>
                <a:cs typeface="Arial"/>
                <a:sym typeface="Arial"/>
              </a:rPr>
              <a:t>Looking forward, adopting advanced practices such as zero-trust architecture and continuous security monitoring will help prevent future threats.</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security policy establishes a strong foundation for secure coding and system design.</a:t>
            </a:r>
          </a:p>
          <a:p>
            <a:r>
              <a:rPr lang="en-US" sz="1100" b="0" i="0" u="none" strike="noStrike" cap="none" dirty="0">
                <a:solidFill>
                  <a:srgbClr val="000000"/>
                </a:solidFill>
                <a:effectLst/>
                <a:latin typeface="Arial"/>
                <a:ea typeface="Arial"/>
                <a:cs typeface="Arial"/>
                <a:sym typeface="Arial"/>
              </a:rPr>
              <a:t>By applying industry standards, automated testing, and a defense-in-depth approach, we can significantly reduce vulnerabilities.</a:t>
            </a:r>
          </a:p>
          <a:p>
            <a:r>
              <a:rPr lang="en-US" sz="1100" b="0" i="0" u="none" strike="noStrike" cap="none" dirty="0">
                <a:solidFill>
                  <a:srgbClr val="000000"/>
                </a:solidFill>
                <a:effectLst/>
                <a:latin typeface="Arial"/>
                <a:ea typeface="Arial"/>
                <a:cs typeface="Arial"/>
                <a:sym typeface="Arial"/>
              </a:rPr>
              <a:t>Real-world incidents, such as major data breaches caused by unpatched vulnerabilities, highlight the importance of proactive security measures.</a:t>
            </a:r>
          </a:p>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audio" Target="../media/media1.m4a"/><Relationship Id="rId7" Type="http://schemas.openxmlformats.org/officeDocument/2006/relationships/audio" Target="../media/media3.m4a"/><Relationship Id="rId2" Type="http://schemas.microsoft.com/office/2007/relationships/media" Target="../media/media1.m4a"/><Relationship Id="rId1" Type="http://schemas.openxmlformats.org/officeDocument/2006/relationships/tags" Target="../tags/tag2.xml"/><Relationship Id="rId6" Type="http://schemas.microsoft.com/office/2007/relationships/media" Target="../media/media3.m4a"/><Relationship Id="rId11" Type="http://schemas.openxmlformats.org/officeDocument/2006/relationships/image" Target="../media/image4.png"/><Relationship Id="rId5" Type="http://schemas.openxmlformats.org/officeDocument/2006/relationships/audio" Target="../media/media2.m4a"/><Relationship Id="rId10" Type="http://schemas.openxmlformats.org/officeDocument/2006/relationships/image" Target="../media/image3.png"/><Relationship Id="rId4" Type="http://schemas.microsoft.com/office/2007/relationships/media" Target="../media/media2.m4a"/><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6.svg"/><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7.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7.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7.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7.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7.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8.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sv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9.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10.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7.sv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1.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7.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7.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7.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7.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notesSlide" Target="../notesSlides/notesSlide17.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learning.oreilly.com/library/view/secure-coding-in/9780768685923/?sso_link=yes&amp;sso_link_from=SNHU" TargetMode="External"/><Relationship Id="rId5" Type="http://schemas.openxmlformats.org/officeDocument/2006/relationships/hyperlink" Target="https://learn.microsoft.com/en-us/cpp/security/security-best-practices-for-cpp?view=msvc-170&amp;viewFallbackFrom=vs-2019" TargetMode="External"/><Relationship Id="rId4" Type="http://schemas.openxmlformats.org/officeDocument/2006/relationships/hyperlink" Target="https://cmu-sei.github.io/secure-coding-standards/sei-cert-cpp-coding-standa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Steven Davis</a:t>
            </a:r>
            <a:endParaRPr dirty="0"/>
          </a:p>
        </p:txBody>
      </p:sp>
      <p:pic>
        <p:nvPicPr>
          <p:cNvPr id="146" name="Google Shape;146;p1" descr="Green Pace logo"/>
          <p:cNvPicPr preferRelativeResize="0"/>
          <p:nvPr/>
        </p:nvPicPr>
        <p:blipFill>
          <a:blip r:embed="rId10">
            <a:alphaModFix/>
          </a:blip>
          <a:stretch>
            <a:fillRect/>
          </a:stretch>
        </p:blipFill>
        <p:spPr>
          <a:xfrm>
            <a:off x="7440774" y="659854"/>
            <a:ext cx="2921424" cy="3786772"/>
          </a:xfrm>
          <a:prstGeom prst="rect">
            <a:avLst/>
          </a:prstGeom>
          <a:noFill/>
          <a:ln>
            <a:noFill/>
          </a:ln>
        </p:spPr>
      </p:pic>
      <p:pic>
        <p:nvPicPr>
          <p:cNvPr id="27" name="hey ">
            <a:hlinkClick r:id="" action="ppaction://media"/>
            <a:extLst>
              <a:ext uri="{FF2B5EF4-FFF2-40B4-BE49-F238E27FC236}">
                <a16:creationId xmlns:a16="http://schemas.microsoft.com/office/drawing/2014/main" id="{D59A7C44-648E-6063-75DB-086642F32121}"/>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5791200" y="3124200"/>
            <a:ext cx="609600" cy="609600"/>
          </a:xfrm>
          <a:prstGeom prst="rect">
            <a:avLst/>
          </a:prstGeom>
        </p:spPr>
      </p:pic>
      <p:pic>
        <p:nvPicPr>
          <p:cNvPr id="38" name="Audio 37">
            <a:hlinkClick r:id="" action="ppaction://media"/>
            <a:extLst>
              <a:ext uri="{FF2B5EF4-FFF2-40B4-BE49-F238E27FC236}">
                <a16:creationId xmlns:a16="http://schemas.microsoft.com/office/drawing/2014/main" id="{92BEEA4B-018D-FB70-7C81-17AC1D3BAC3E}"/>
              </a:ext>
            </a:extLst>
          </p:cNvPr>
          <p:cNvPicPr>
            <a:picLocks noChangeAspect="1"/>
          </p:cNvPicPr>
          <p:nvPr>
            <a:audioFile r:link="rId5"/>
            <p:extLst>
              <p:ext uri="{DAA4B4D4-6D71-4841-9C94-3DE7FCFB9230}">
                <p14:media xmlns:p14="http://schemas.microsoft.com/office/powerpoint/2010/main" r:embed="rId4"/>
              </p:ext>
            </p:extLst>
          </p:nvPr>
        </p:nvPicPr>
        <p:blipFill>
          <a:blip r:embed="rId11"/>
          <a:srcRect l="-118750" t="-118750" r="-118750" b="-118750"/>
          <a:stretch>
            <a:fillRect/>
          </a:stretch>
        </p:blipFill>
        <p:spPr>
          <a:xfrm>
            <a:off x="10052304" y="4718304"/>
            <a:ext cx="2057400" cy="2057400"/>
          </a:xfrm>
          <a:prstGeom prst="ellipse">
            <a:avLst/>
          </a:prstGeom>
        </p:spPr>
      </p:pic>
      <p:pic>
        <p:nvPicPr>
          <p:cNvPr id="34" name="Start">
            <a:hlinkClick r:id="" action="ppaction://media"/>
            <a:extLst>
              <a:ext uri="{FF2B5EF4-FFF2-40B4-BE49-F238E27FC236}">
                <a16:creationId xmlns:a16="http://schemas.microsoft.com/office/drawing/2014/main" id="{FBE34119-3026-268F-AAE5-2B34FC64DC7D}"/>
              </a:ext>
            </a:extLst>
          </p:cNvPr>
          <p:cNvPicPr>
            <a:picLocks noChangeAspect="1"/>
          </p:cNvPicPr>
          <p:nvPr>
            <a:audioFile r:link="rId7"/>
            <p:extLst>
              <p:ext uri="{DAA4B4D4-6D71-4841-9C94-3DE7FCFB9230}">
                <p14:media xmlns:p14="http://schemas.microsoft.com/office/powerpoint/2010/main" r:embed="rId6"/>
              </p:ext>
            </p:extLst>
          </p:nvPr>
        </p:nvPicPr>
        <p:blipFill>
          <a:blip r:embed="rId11"/>
          <a:stretch>
            <a:fillRect/>
          </a:stretch>
        </p:blipFill>
        <p:spPr>
          <a:xfrm>
            <a:off x="5791200" y="3124200"/>
            <a:ext cx="609600" cy="6096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47"/>
    </mc:Choice>
    <mc:Fallback>
      <p:transition spd="slow" advTm="4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626" fill="hold"/>
                                        <p:tgtEl>
                                          <p:spTgt spid="27"/>
                                        </p:tgtEl>
                                      </p:cBhvr>
                                    </p:cmd>
                                  </p:childTnLst>
                                </p:cTn>
                              </p:par>
                            </p:childTnLst>
                          </p:cTn>
                        </p:par>
                        <p:par>
                          <p:cTn id="11" fill="hold">
                            <p:stCondLst>
                              <p:cond delay="3626"/>
                            </p:stCondLst>
                            <p:childTnLst>
                              <p:par>
                                <p:cTn id="12" presetID="1" presetClass="mediacall" presetSubtype="0" fill="hold" nodeType="afterEffect">
                                  <p:stCondLst>
                                    <p:cond delay="0"/>
                                  </p:stCondLst>
                                  <p:childTnLst>
                                    <p:cmd type="call" cmd="playFrom(0.0)">
                                      <p:cBhvr>
                                        <p:cTn id="13" dur="23329"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4" fill="hold" display="0">
                  <p:stCondLst>
                    <p:cond delay="indefinite"/>
                  </p:stCondLst>
                  <p:endCondLst>
                    <p:cond evt="onStopAudio" delay="0">
                      <p:tgtEl>
                        <p:sldTgt/>
                      </p:tgtEl>
                    </p:cond>
                  </p:endCondLst>
                </p:cTn>
                <p:tgtEl>
                  <p:spTgt spid="27"/>
                </p:tgtEl>
              </p:cMediaNode>
            </p:audio>
            <p:audio>
              <p:cMediaNode vol="80000">
                <p:cTn id="15" fill="hold" display="0">
                  <p:stCondLst>
                    <p:cond delay="indefinite"/>
                  </p:stCondLst>
                  <p:endCondLst>
                    <p:cond evt="onStopAudio" delay="0">
                      <p:tgtEl>
                        <p:sldTgt/>
                      </p:tgtEl>
                    </p:cond>
                  </p:endCondLst>
                </p:cTn>
                <p:tgtEl>
                  <p:spTgt spid="34"/>
                </p:tgtEl>
              </p:cMediaNode>
            </p:audio>
            <p:audio isNarration="1">
              <p:cMediaNode vol="80000" showWhenStopped="0">
                <p:cTn id="16" fill="hold" display="0">
                  <p:stCondLst>
                    <p:cond delay="indefinite"/>
                  </p:stCondLst>
                  <p:endCondLst>
                    <p:cond evt="onStopAudio" delay="0">
                      <p:tgtEl>
                        <p:sldTgt/>
                      </p:tgtEl>
                    </p:cond>
                  </p:endCondLst>
                </p:cTn>
                <p:tgtEl>
                  <p:spTgt spid="3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dirty="0"/>
              <a:t>The Green Pace Secure Development Policy establishes mandatory secure-coding standards to prevent common vulnerabilities, reduce breach risk, and implement multiple protective layers while putting security first.</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561326" y="3291841"/>
            <a:ext cx="5513848" cy="2926844"/>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pic>
        <p:nvPicPr>
          <p:cNvPr id="7" name="Graphic 6">
            <a:extLst>
              <a:ext uri="{FF2B5EF4-FFF2-40B4-BE49-F238E27FC236}">
                <a16:creationId xmlns:a16="http://schemas.microsoft.com/office/drawing/2014/main" id="{35047B27-5052-B0BF-5643-13E5714681F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Autofit/>
          </a:bodyPr>
          <a:lstStyle/>
          <a:p>
            <a:pPr marL="228600" lvl="0" indent="0">
              <a:lnSpc>
                <a:spcPct val="107916"/>
              </a:lnSpc>
              <a:spcBef>
                <a:spcPts val="0"/>
              </a:spcBef>
              <a:buNone/>
            </a:pPr>
            <a:r>
              <a:rPr lang="en-US" sz="1200" dirty="0"/>
              <a:t>High-risk issues (null </a:t>
            </a:r>
            <a:r>
              <a:rPr lang="en-US" sz="1200" dirty="0" err="1"/>
              <a:t>derefs</a:t>
            </a:r>
            <a:r>
              <a:rPr lang="en-US" sz="1200" dirty="0"/>
              <a:t>, buffer overflows, unchecked allocations, pointer-ownership errors, concurrency races) can cause crashes, corruption, or code execution.</a:t>
            </a:r>
            <a:br>
              <a:rPr lang="en-US" sz="1200" dirty="0"/>
            </a:br>
            <a:r>
              <a:rPr lang="en-US" sz="1200" dirty="0"/>
              <a:t>Medium/low risks (</a:t>
            </a:r>
            <a:r>
              <a:rPr lang="en-US" sz="1200" dirty="0" err="1"/>
              <a:t>enum</a:t>
            </a:r>
            <a:r>
              <a:rPr lang="en-US" sz="1200" dirty="0"/>
              <a:t> casts, missing returns, lifetime mismatches, exception slicing, reserved identifiers) cause undefined or subtle bugs and are preventable with checks and coding conventions.</a:t>
            </a:r>
            <a:endParaRPr sz="1200" dirty="0"/>
          </a:p>
        </p:txBody>
      </p:sp>
      <p:graphicFrame>
        <p:nvGraphicFramePr>
          <p:cNvPr id="161" name="Google Shape;161;p4" descr="Alt text required"/>
          <p:cNvGraphicFramePr/>
          <p:nvPr>
            <p:extLst>
              <p:ext uri="{D42A27DB-BD31-4B8C-83A1-F6EECF244321}">
                <p14:modId xmlns:p14="http://schemas.microsoft.com/office/powerpoint/2010/main" val="796186438"/>
              </p:ext>
            </p:extLst>
          </p:nvPr>
        </p:nvGraphicFramePr>
        <p:xfrm>
          <a:off x="3358713" y="21945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algn="ctr"/>
                      <a:r>
                        <a:rPr lang="en-US" sz="1400" b="0" i="0" u="none" strike="noStrike" cap="none" dirty="0">
                          <a:solidFill>
                            <a:srgbClr val="000000"/>
                          </a:solidFill>
                          <a:effectLst/>
                          <a:latin typeface="Arial"/>
                          <a:ea typeface="Arial"/>
                          <a:cs typeface="Arial"/>
                          <a:sym typeface="Arial"/>
                        </a:rPr>
                        <a:t>STD-002 — EXP34-C</a:t>
                      </a:r>
                    </a:p>
                    <a:p>
                      <a:pPr algn="ctr"/>
                      <a:r>
                        <a:rPr lang="en-US" sz="1400" b="0" i="0" u="none" strike="noStrike" cap="none" dirty="0">
                          <a:solidFill>
                            <a:srgbClr val="000000"/>
                          </a:solidFill>
                          <a:effectLst/>
                          <a:latin typeface="Arial"/>
                          <a:ea typeface="Arial"/>
                          <a:cs typeface="Arial"/>
                          <a:sym typeface="Arial"/>
                        </a:rPr>
                        <a:t>STD-003 — STR50-CPP</a:t>
                      </a:r>
                    </a:p>
                    <a:p>
                      <a:pPr algn="ctr"/>
                      <a:r>
                        <a:rPr lang="en-US" sz="1400" b="0" i="0" u="none" strike="noStrike" cap="none" dirty="0">
                          <a:solidFill>
                            <a:srgbClr val="000000"/>
                          </a:solidFill>
                          <a:effectLst/>
                          <a:latin typeface="Arial"/>
                          <a:ea typeface="Arial"/>
                          <a:cs typeface="Arial"/>
                          <a:sym typeface="Arial"/>
                        </a:rPr>
                        <a:t>STD-005 — MEM52-CPP</a:t>
                      </a:r>
                    </a:p>
                    <a:p>
                      <a:pPr algn="ctr"/>
                      <a:r>
                        <a:rPr lang="en-US" sz="1400" b="0" i="0" u="none" strike="noStrike" cap="none" dirty="0">
                          <a:solidFill>
                            <a:srgbClr val="000000"/>
                          </a:solidFill>
                          <a:effectLst/>
                          <a:latin typeface="Arial"/>
                          <a:ea typeface="Arial"/>
                          <a:cs typeface="Arial"/>
                          <a:sym typeface="Arial"/>
                        </a:rPr>
                        <a:t>STD-008 — MEM56-CPP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algn="ctr"/>
                      <a:r>
                        <a:rPr lang="en-US" sz="1400" b="0" i="0" u="none" strike="noStrike" cap="none" dirty="0">
                          <a:solidFill>
                            <a:srgbClr val="000000"/>
                          </a:solidFill>
                          <a:effectLst/>
                          <a:latin typeface="Arial"/>
                          <a:ea typeface="Arial"/>
                          <a:cs typeface="Arial"/>
                          <a:sym typeface="Arial"/>
                        </a:rPr>
                        <a:t>STD-002 — EXP34-C</a:t>
                      </a:r>
                    </a:p>
                    <a:p>
                      <a:pPr algn="ctr"/>
                      <a:r>
                        <a:rPr lang="en-US" sz="1400" b="0" i="0" u="none" strike="noStrike" cap="none" dirty="0">
                          <a:solidFill>
                            <a:srgbClr val="000000"/>
                          </a:solidFill>
                          <a:effectLst/>
                          <a:latin typeface="Arial"/>
                          <a:ea typeface="Arial"/>
                          <a:cs typeface="Arial"/>
                          <a:sym typeface="Arial"/>
                        </a:rPr>
                        <a:t>STD-003 — STR50-CPP</a:t>
                      </a:r>
                    </a:p>
                    <a:p>
                      <a:pPr algn="ctr"/>
                      <a:r>
                        <a:rPr lang="en-US" sz="1400" b="0" i="0" u="none" strike="noStrike" cap="none" dirty="0">
                          <a:solidFill>
                            <a:srgbClr val="000000"/>
                          </a:solidFill>
                          <a:effectLst/>
                          <a:latin typeface="Arial"/>
                          <a:ea typeface="Arial"/>
                          <a:cs typeface="Arial"/>
                          <a:sym typeface="Arial"/>
                        </a:rPr>
                        <a:t>STD-008 — MEM56-CPP</a:t>
                      </a:r>
                    </a:p>
                    <a:p>
                      <a:pPr algn="ctr"/>
                      <a:r>
                        <a:rPr lang="en-US" sz="1400" b="0" i="0" u="none" strike="noStrike" cap="none" dirty="0">
                          <a:solidFill>
                            <a:srgbClr val="000000"/>
                          </a:solidFill>
                          <a:effectLst/>
                          <a:latin typeface="Arial"/>
                          <a:ea typeface="Arial"/>
                          <a:cs typeface="Arial"/>
                          <a:sym typeface="Arial"/>
                        </a:rPr>
                        <a:t>STD-010 — CON52-CPP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algn="ctr"/>
                      <a:r>
                        <a:rPr lang="en-US" sz="1400" b="0" i="0" u="none" strike="noStrike" cap="none" dirty="0">
                          <a:solidFill>
                            <a:srgbClr val="000000"/>
                          </a:solidFill>
                          <a:effectLst/>
                          <a:latin typeface="Arial"/>
                          <a:ea typeface="Arial"/>
                          <a:cs typeface="Arial"/>
                          <a:sym typeface="Arial"/>
                        </a:rPr>
                        <a:t>STD-007 — ERR61-CPP</a:t>
                      </a:r>
                    </a:p>
                    <a:p>
                      <a:pPr algn="ctr"/>
                      <a:r>
                        <a:rPr lang="en-US" sz="1400" b="0" i="0" u="none" strike="noStrike" cap="none" dirty="0">
                          <a:solidFill>
                            <a:srgbClr val="000000"/>
                          </a:solidFill>
                          <a:effectLst/>
                          <a:latin typeface="Arial"/>
                          <a:ea typeface="Arial"/>
                          <a:cs typeface="Arial"/>
                          <a:sym typeface="Arial"/>
                        </a:rPr>
                        <a:t>STD-009 — DCL51-CPP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algn="ctr"/>
                      <a:r>
                        <a:rPr lang="en-US" sz="1400" b="0" i="0" u="none" strike="noStrike" cap="none" dirty="0">
                          <a:solidFill>
                            <a:srgbClr val="000000"/>
                          </a:solidFill>
                          <a:effectLst/>
                          <a:latin typeface="Arial"/>
                          <a:ea typeface="Arial"/>
                          <a:cs typeface="Arial"/>
                          <a:sym typeface="Arial"/>
                        </a:rPr>
                        <a:t>STD-001 — Int50-CPP</a:t>
                      </a:r>
                    </a:p>
                    <a:p>
                      <a:pPr algn="ctr"/>
                      <a:r>
                        <a:rPr lang="en-US" sz="1400" b="0" i="0" u="none" strike="noStrike" cap="none" dirty="0">
                          <a:solidFill>
                            <a:srgbClr val="000000"/>
                          </a:solidFill>
                          <a:effectLst/>
                          <a:latin typeface="Arial"/>
                          <a:ea typeface="Arial"/>
                          <a:cs typeface="Arial"/>
                          <a:sym typeface="Arial"/>
                        </a:rPr>
                        <a:t>STD-006 — EXP35-C</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8" name="Graphic 7">
            <a:extLst>
              <a:ext uri="{FF2B5EF4-FFF2-40B4-BE49-F238E27FC236}">
                <a16:creationId xmlns:a16="http://schemas.microsoft.com/office/drawing/2014/main" id="{C2B22145-1EC7-21BA-9668-9200803DC57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1"/>
            <a:r>
              <a:rPr lang="en-US" dirty="0"/>
              <a:t>Validate Input Data — STD-001, STD-002, STD-003, STD-005, STD-010</a:t>
            </a:r>
          </a:p>
          <a:p>
            <a:pPr lvl="1"/>
            <a:r>
              <a:rPr lang="en-US" dirty="0"/>
              <a:t>Heed Compiler Warnings — STD-004, STD-006, STD-007, STD-009</a:t>
            </a:r>
          </a:p>
          <a:p>
            <a:pPr lvl="1"/>
            <a:r>
              <a:rPr lang="en-US" dirty="0"/>
              <a:t>Architect &amp; Design for Security — STD-001, STD-005, STD-008, STD-010</a:t>
            </a:r>
          </a:p>
          <a:p>
            <a:pPr lvl="1"/>
            <a:r>
              <a:rPr lang="en-US" dirty="0"/>
              <a:t>Keep It Simple — STD-003, STD-007, STD-009</a:t>
            </a:r>
          </a:p>
          <a:p>
            <a:pPr lvl="1"/>
            <a:r>
              <a:rPr lang="en-US" dirty="0"/>
              <a:t>Default Deny — STD-002, STD-004, STD-005</a:t>
            </a:r>
          </a:p>
          <a:p>
            <a:pPr lvl="1"/>
            <a:r>
              <a:rPr lang="en-US" dirty="0"/>
              <a:t>Least Privilege — STD-001, STD-008, STD-010</a:t>
            </a:r>
          </a:p>
          <a:p>
            <a:pPr lvl="1"/>
            <a:r>
              <a:rPr lang="en-US" dirty="0"/>
              <a:t>Sanitize Data Sent to Other Systems — STD-001, STD-002, STD-003</a:t>
            </a:r>
          </a:p>
          <a:p>
            <a:pPr lvl="1"/>
            <a:r>
              <a:rPr lang="en-US" dirty="0"/>
              <a:t>Defense in Depth — STD-002, STD-003, STD-005, STD-008, STD-010</a:t>
            </a:r>
          </a:p>
          <a:p>
            <a:pPr lvl="1"/>
            <a:r>
              <a:rPr lang="en-US" dirty="0"/>
              <a:t>Effective QA (testing &amp; review) — STD-001 through STD-010 (all standards)</a:t>
            </a:r>
          </a:p>
          <a:p>
            <a:pPr lvl="1"/>
            <a:r>
              <a:rPr lang="en-US" dirty="0"/>
              <a:t>Adopt Secure Coding Standard — STD-001 through STD-010 (formal baseline)</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7" name="Graphic 6">
            <a:extLst>
              <a:ext uri="{FF2B5EF4-FFF2-40B4-BE49-F238E27FC236}">
                <a16:creationId xmlns:a16="http://schemas.microsoft.com/office/drawing/2014/main" id="{D3DE6637-5813-2586-08D9-19CD43E1C6D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r>
              <a:rPr lang="en-US" dirty="0"/>
              <a:t>STD-001-CPP: Int50 — Don’t cast to out-of-range </a:t>
            </a:r>
            <a:r>
              <a:rPr lang="en-US" dirty="0" err="1"/>
              <a:t>enum</a:t>
            </a:r>
            <a:endParaRPr lang="en-US" dirty="0"/>
          </a:p>
          <a:p>
            <a:r>
              <a:rPr lang="en-US" dirty="0"/>
              <a:t>STD-002-CPP: EXP34 — Do not dereference null pointers</a:t>
            </a:r>
          </a:p>
          <a:p>
            <a:r>
              <a:rPr lang="en-US" dirty="0"/>
              <a:t>STD-003-CPP: STR50 — Buffer/ string correctness</a:t>
            </a:r>
          </a:p>
          <a:p>
            <a:r>
              <a:rPr lang="en-US" dirty="0"/>
              <a:t>STD-004-CPP: MSC52 — Return value on all paths</a:t>
            </a:r>
          </a:p>
          <a:p>
            <a:r>
              <a:rPr lang="en-US" dirty="0"/>
              <a:t>STD-005-CPP: MEM52 — Handle memory allocation failures</a:t>
            </a:r>
          </a:p>
          <a:p>
            <a:r>
              <a:rPr lang="en-US" dirty="0"/>
              <a:t>STD-006-CLG: EXP35 — Temporary lifetime rules</a:t>
            </a:r>
          </a:p>
          <a:p>
            <a:r>
              <a:rPr lang="en-US" dirty="0"/>
              <a:t>STD-007-CPP: ERR61 — Catch exceptions by reference</a:t>
            </a:r>
          </a:p>
          <a:p>
            <a:r>
              <a:rPr lang="en-US" dirty="0"/>
              <a:t>STD-008-CPP: MEM56 — Smart pointer ownership</a:t>
            </a:r>
          </a:p>
          <a:p>
            <a:r>
              <a:rPr lang="en-US" dirty="0"/>
              <a:t>STD-009-CPP: DCL51 — Avoid reserved identifiers</a:t>
            </a:r>
          </a:p>
          <a:p>
            <a:r>
              <a:rPr lang="en-US" dirty="0"/>
              <a:t>STD-010-CPP: CON52 — Prevent data races on bit-fields</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Graphic 5">
            <a:extLst>
              <a:ext uri="{FF2B5EF4-FFF2-40B4-BE49-F238E27FC236}">
                <a16:creationId xmlns:a16="http://schemas.microsoft.com/office/drawing/2014/main" id="{CA6D44E0-42C3-E68D-0E6D-ED50337D45E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dirty="0"/>
              <a:t>Encryption at rest - This policy applies to databases, file systems, and backups to ensure that sensitive data remains secure and protected, using strong encryption algorithms such as AES-256. </a:t>
            </a:r>
          </a:p>
          <a:p>
            <a:pPr marL="228600" lvl="0" indent="-228600">
              <a:spcBef>
                <a:spcPts val="0"/>
              </a:spcBef>
              <a:buSzPts val="2000"/>
            </a:pPr>
            <a:r>
              <a:rPr lang="en-US" dirty="0"/>
              <a:t>Encryption in flight - This policy protects data in transit as it moves across networks and applies to all communications between clients, servers, and APIs, helping prevent Man-in-the-middle attacks.</a:t>
            </a:r>
          </a:p>
          <a:p>
            <a:pPr marL="228600" lvl="0" indent="-228600">
              <a:spcBef>
                <a:spcPts val="0"/>
              </a:spcBef>
              <a:buSzPts val="2000"/>
            </a:pPr>
            <a:r>
              <a:rPr lang="en-US" dirty="0"/>
              <a:t>Encryption in use - This policy applies when handling highly sensitive data to prevent exposure during computation and encrypting data during processing.</a:t>
            </a: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9" name="Graphic 8">
            <a:extLst>
              <a:ext uri="{FF2B5EF4-FFF2-40B4-BE49-F238E27FC236}">
                <a16:creationId xmlns:a16="http://schemas.microsoft.com/office/drawing/2014/main" id="{1ACC7B85-402D-436D-5948-01833F43AD5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400"/>
            </a:pPr>
            <a:r>
              <a:rPr lang="en-US" dirty="0"/>
              <a:t>Authentication - This policy applies to user logins and system access points, ensuring all users are authenticated using passwords and multi-factor authentication.</a:t>
            </a:r>
          </a:p>
          <a:p>
            <a:pPr marL="228600" lvl="0" indent="-228600">
              <a:spcBef>
                <a:spcPts val="0"/>
              </a:spcBef>
              <a:buSzPts val="2400"/>
            </a:pPr>
            <a:r>
              <a:rPr lang="en-US" dirty="0"/>
              <a:t>Authorization - This policy applies to database changes, file access, and system operations, using least privilege and role-based access control.</a:t>
            </a:r>
          </a:p>
          <a:p>
            <a:pPr marL="228600" lvl="0" indent="-228600">
              <a:spcBef>
                <a:spcPts val="0"/>
              </a:spcBef>
              <a:buSzPts val="2400"/>
            </a:pPr>
            <a:r>
              <a:rPr lang="en-US" dirty="0"/>
              <a:t>Accounting - This policy applies to logging all user activity, such as file access and system changes, for auditing and compliance purposes.</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7" name="Graphic 6">
            <a:extLst>
              <a:ext uri="{FF2B5EF4-FFF2-40B4-BE49-F238E27FC236}">
                <a16:creationId xmlns:a16="http://schemas.microsoft.com/office/drawing/2014/main" id="{77F54A58-F882-CAE8-CFBC-986D350A79E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1860263"/>
            <a:ext cx="10820400" cy="58796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err="1"/>
              <a:t>CanAddToEmptyVector</a:t>
            </a:r>
            <a:r>
              <a:rPr lang="en-US" dirty="0"/>
              <a:t> – STD-008 </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FD787C93-9246-47F0-7724-0107B8E042B4}"/>
              </a:ext>
            </a:extLst>
          </p:cNvPr>
          <p:cNvSpPr txBox="1"/>
          <p:nvPr/>
        </p:nvSpPr>
        <p:spPr>
          <a:xfrm>
            <a:off x="757084" y="2546555"/>
            <a:ext cx="4621161" cy="523220"/>
          </a:xfrm>
          <a:prstGeom prst="rect">
            <a:avLst/>
          </a:prstGeom>
          <a:noFill/>
        </p:spPr>
        <p:txBody>
          <a:bodyPr wrap="square" rtlCol="0">
            <a:spAutoFit/>
          </a:bodyPr>
          <a:lstStyle/>
          <a:p>
            <a:r>
              <a:rPr lang="en-US" dirty="0" err="1">
                <a:solidFill>
                  <a:schemeClr val="bg1"/>
                </a:solidFill>
              </a:rPr>
              <a:t>Add_entries</a:t>
            </a:r>
            <a:r>
              <a:rPr lang="en-US" dirty="0">
                <a:solidFill>
                  <a:schemeClr val="bg1"/>
                </a:solidFill>
              </a:rPr>
              <a:t> not modifying collection, misuse of assumption, incorrect pointer handling.</a:t>
            </a:r>
          </a:p>
        </p:txBody>
      </p:sp>
      <p:pic>
        <p:nvPicPr>
          <p:cNvPr id="4" name="Picture 3">
            <a:extLst>
              <a:ext uri="{FF2B5EF4-FFF2-40B4-BE49-F238E27FC236}">
                <a16:creationId xmlns:a16="http://schemas.microsoft.com/office/drawing/2014/main" id="{1CFEE745-3C0C-21B3-A4B5-9720E738F5D9}"/>
              </a:ext>
            </a:extLst>
          </p:cNvPr>
          <p:cNvPicPr>
            <a:picLocks noChangeAspect="1"/>
          </p:cNvPicPr>
          <p:nvPr/>
        </p:nvPicPr>
        <p:blipFill>
          <a:blip r:embed="rId5"/>
          <a:stretch>
            <a:fillRect/>
          </a:stretch>
        </p:blipFill>
        <p:spPr>
          <a:xfrm>
            <a:off x="757084" y="3069775"/>
            <a:ext cx="5230761" cy="1711568"/>
          </a:xfrm>
          <a:prstGeom prst="rect">
            <a:avLst/>
          </a:prstGeom>
        </p:spPr>
      </p:pic>
      <p:pic>
        <p:nvPicPr>
          <p:cNvPr id="6" name="Picture 5">
            <a:extLst>
              <a:ext uri="{FF2B5EF4-FFF2-40B4-BE49-F238E27FC236}">
                <a16:creationId xmlns:a16="http://schemas.microsoft.com/office/drawing/2014/main" id="{9CDDDF5D-2F60-70CB-3C0E-90C903FB127D}"/>
              </a:ext>
            </a:extLst>
          </p:cNvPr>
          <p:cNvPicPr>
            <a:picLocks noChangeAspect="1"/>
          </p:cNvPicPr>
          <p:nvPr/>
        </p:nvPicPr>
        <p:blipFill>
          <a:blip r:embed="rId6"/>
          <a:stretch>
            <a:fillRect/>
          </a:stretch>
        </p:blipFill>
        <p:spPr>
          <a:xfrm>
            <a:off x="738480" y="5860026"/>
            <a:ext cx="10345594" cy="908793"/>
          </a:xfrm>
          <a:prstGeom prst="rect">
            <a:avLst/>
          </a:prstGeom>
        </p:spPr>
      </p:pic>
      <p:sp>
        <p:nvSpPr>
          <p:cNvPr id="7" name="TextBox 6">
            <a:extLst>
              <a:ext uri="{FF2B5EF4-FFF2-40B4-BE49-F238E27FC236}">
                <a16:creationId xmlns:a16="http://schemas.microsoft.com/office/drawing/2014/main" id="{791BC8BE-1F63-B610-28D9-D6679BE034DB}"/>
              </a:ext>
            </a:extLst>
          </p:cNvPr>
          <p:cNvSpPr txBox="1"/>
          <p:nvPr/>
        </p:nvSpPr>
        <p:spPr>
          <a:xfrm>
            <a:off x="5987845" y="2546555"/>
            <a:ext cx="5096229" cy="523220"/>
          </a:xfrm>
          <a:prstGeom prst="rect">
            <a:avLst/>
          </a:prstGeom>
          <a:noFill/>
        </p:spPr>
        <p:txBody>
          <a:bodyPr wrap="square" rtlCol="0">
            <a:spAutoFit/>
          </a:bodyPr>
          <a:lstStyle/>
          <a:p>
            <a:r>
              <a:rPr lang="en-US" dirty="0">
                <a:solidFill>
                  <a:schemeClr val="bg1"/>
                </a:solidFill>
              </a:rPr>
              <a:t>Fix by ensuring </a:t>
            </a:r>
            <a:r>
              <a:rPr lang="en-US" dirty="0" err="1">
                <a:solidFill>
                  <a:schemeClr val="bg1"/>
                </a:solidFill>
              </a:rPr>
              <a:t>add_entries</a:t>
            </a:r>
            <a:r>
              <a:rPr lang="en-US" dirty="0">
                <a:solidFill>
                  <a:schemeClr val="bg1"/>
                </a:solidFill>
              </a:rPr>
              <a:t> pushes elements and ownership remains with fixture.</a:t>
            </a:r>
          </a:p>
        </p:txBody>
      </p:sp>
      <p:pic>
        <p:nvPicPr>
          <p:cNvPr id="9" name="Picture 8">
            <a:extLst>
              <a:ext uri="{FF2B5EF4-FFF2-40B4-BE49-F238E27FC236}">
                <a16:creationId xmlns:a16="http://schemas.microsoft.com/office/drawing/2014/main" id="{9FF0ADCC-0275-C848-6811-95C43649B757}"/>
              </a:ext>
            </a:extLst>
          </p:cNvPr>
          <p:cNvPicPr>
            <a:picLocks noChangeAspect="1"/>
          </p:cNvPicPr>
          <p:nvPr/>
        </p:nvPicPr>
        <p:blipFill>
          <a:blip r:embed="rId7"/>
          <a:stretch>
            <a:fillRect/>
          </a:stretch>
        </p:blipFill>
        <p:spPr>
          <a:xfrm>
            <a:off x="6096000" y="2998575"/>
            <a:ext cx="5544324" cy="2105319"/>
          </a:xfrm>
          <a:prstGeom prst="rect">
            <a:avLst/>
          </a:prstGeom>
        </p:spPr>
      </p:pic>
      <p:pic>
        <p:nvPicPr>
          <p:cNvPr id="13" name="Picture 12">
            <a:extLst>
              <a:ext uri="{FF2B5EF4-FFF2-40B4-BE49-F238E27FC236}">
                <a16:creationId xmlns:a16="http://schemas.microsoft.com/office/drawing/2014/main" id="{F30E1E4E-3F54-7AA1-7C7A-389853E7632D}"/>
              </a:ext>
            </a:extLst>
          </p:cNvPr>
          <p:cNvPicPr>
            <a:picLocks noChangeAspect="1"/>
          </p:cNvPicPr>
          <p:nvPr/>
        </p:nvPicPr>
        <p:blipFill>
          <a:blip r:embed="rId8"/>
          <a:stretch>
            <a:fillRect/>
          </a:stretch>
        </p:blipFill>
        <p:spPr>
          <a:xfrm>
            <a:off x="6477053" y="5226193"/>
            <a:ext cx="4782217" cy="428685"/>
          </a:xfrm>
          <a:prstGeom prst="rect">
            <a:avLst/>
          </a:prstGeom>
        </p:spPr>
      </p:pic>
      <p:pic>
        <p:nvPicPr>
          <p:cNvPr id="24" name="Graphic 23">
            <a:extLst>
              <a:ext uri="{FF2B5EF4-FFF2-40B4-BE49-F238E27FC236}">
                <a16:creationId xmlns:a16="http://schemas.microsoft.com/office/drawing/2014/main" id="{440F4D48-9A70-9BF9-68F5-55FAF98B3AA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030D0A3D-9593-614C-A9B7-19FB0B9D5BAA}"/>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E8506CD-0EA5-20F1-D3B7-3B8C02FABC9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6E6DE7FA-11EF-D5AD-8773-5761D7CBB2CE}"/>
              </a:ext>
            </a:extLst>
          </p:cNvPr>
          <p:cNvSpPr txBox="1">
            <a:spLocks noGrp="1"/>
          </p:cNvSpPr>
          <p:nvPr>
            <p:ph type="body" idx="1"/>
          </p:nvPr>
        </p:nvSpPr>
        <p:spPr>
          <a:xfrm>
            <a:off x="685800" y="1817466"/>
            <a:ext cx="10820400" cy="47981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err="1"/>
              <a:t>CollectionSmartPointerIsNotNull</a:t>
            </a:r>
            <a:r>
              <a:rPr lang="en-US" dirty="0"/>
              <a:t> – STD-002</a:t>
            </a:r>
            <a:endParaRPr dirty="0"/>
          </a:p>
        </p:txBody>
      </p:sp>
      <p:pic>
        <p:nvPicPr>
          <p:cNvPr id="197" name="Google Shape;197;g9504e29505_0_0" descr="Green Pace logo">
            <a:extLst>
              <a:ext uri="{FF2B5EF4-FFF2-40B4-BE49-F238E27FC236}">
                <a16:creationId xmlns:a16="http://schemas.microsoft.com/office/drawing/2014/main" id="{824BA7A9-940D-538D-E8CF-E17C92DEFE07}"/>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BEBFAF03-E46D-4926-E84D-005C409765D5}"/>
              </a:ext>
            </a:extLst>
          </p:cNvPr>
          <p:cNvSpPr txBox="1"/>
          <p:nvPr/>
        </p:nvSpPr>
        <p:spPr>
          <a:xfrm>
            <a:off x="619432" y="2418735"/>
            <a:ext cx="5368413" cy="523220"/>
          </a:xfrm>
          <a:prstGeom prst="rect">
            <a:avLst/>
          </a:prstGeom>
          <a:noFill/>
        </p:spPr>
        <p:txBody>
          <a:bodyPr wrap="square" rtlCol="0">
            <a:spAutoFit/>
          </a:bodyPr>
          <a:lstStyle/>
          <a:p>
            <a:r>
              <a:rPr lang="en-US" dirty="0">
                <a:solidFill>
                  <a:schemeClr val="bg1"/>
                </a:solidFill>
              </a:rPr>
              <a:t>The Code here shows a simulated null </a:t>
            </a:r>
            <a:r>
              <a:rPr lang="en-US" dirty="0" err="1">
                <a:solidFill>
                  <a:schemeClr val="bg1"/>
                </a:solidFill>
              </a:rPr>
              <a:t>derefence</a:t>
            </a:r>
            <a:r>
              <a:rPr lang="en-US" dirty="0">
                <a:solidFill>
                  <a:schemeClr val="bg1"/>
                </a:solidFill>
              </a:rPr>
              <a:t> condition, a missing null check risk.</a:t>
            </a:r>
          </a:p>
        </p:txBody>
      </p:sp>
      <p:pic>
        <p:nvPicPr>
          <p:cNvPr id="6" name="Picture 5">
            <a:extLst>
              <a:ext uri="{FF2B5EF4-FFF2-40B4-BE49-F238E27FC236}">
                <a16:creationId xmlns:a16="http://schemas.microsoft.com/office/drawing/2014/main" id="{10D7E205-4445-7975-F8A2-937FBE2A4186}"/>
              </a:ext>
            </a:extLst>
          </p:cNvPr>
          <p:cNvPicPr>
            <a:picLocks noChangeAspect="1"/>
          </p:cNvPicPr>
          <p:nvPr/>
        </p:nvPicPr>
        <p:blipFill>
          <a:blip r:embed="rId5"/>
          <a:stretch>
            <a:fillRect/>
          </a:stretch>
        </p:blipFill>
        <p:spPr>
          <a:xfrm>
            <a:off x="685800" y="3021623"/>
            <a:ext cx="4667901" cy="1524213"/>
          </a:xfrm>
          <a:prstGeom prst="rect">
            <a:avLst/>
          </a:prstGeom>
        </p:spPr>
      </p:pic>
      <p:pic>
        <p:nvPicPr>
          <p:cNvPr id="8" name="Picture 7">
            <a:extLst>
              <a:ext uri="{FF2B5EF4-FFF2-40B4-BE49-F238E27FC236}">
                <a16:creationId xmlns:a16="http://schemas.microsoft.com/office/drawing/2014/main" id="{F9E5B080-D385-6DB1-DCD7-8D9AA231BED8}"/>
              </a:ext>
            </a:extLst>
          </p:cNvPr>
          <p:cNvPicPr>
            <a:picLocks noChangeAspect="1"/>
          </p:cNvPicPr>
          <p:nvPr/>
        </p:nvPicPr>
        <p:blipFill>
          <a:blip r:embed="rId6"/>
          <a:stretch>
            <a:fillRect/>
          </a:stretch>
        </p:blipFill>
        <p:spPr>
          <a:xfrm>
            <a:off x="511277" y="5252281"/>
            <a:ext cx="8713751" cy="959163"/>
          </a:xfrm>
          <a:prstGeom prst="rect">
            <a:avLst/>
          </a:prstGeom>
        </p:spPr>
      </p:pic>
      <p:sp>
        <p:nvSpPr>
          <p:cNvPr id="9" name="TextBox 8">
            <a:extLst>
              <a:ext uri="{FF2B5EF4-FFF2-40B4-BE49-F238E27FC236}">
                <a16:creationId xmlns:a16="http://schemas.microsoft.com/office/drawing/2014/main" id="{8C55C06E-1DD9-1997-D377-5D4FDE345C52}"/>
              </a:ext>
            </a:extLst>
          </p:cNvPr>
          <p:cNvSpPr txBox="1"/>
          <p:nvPr/>
        </p:nvSpPr>
        <p:spPr>
          <a:xfrm>
            <a:off x="6096000" y="2418735"/>
            <a:ext cx="4798142" cy="523220"/>
          </a:xfrm>
          <a:prstGeom prst="rect">
            <a:avLst/>
          </a:prstGeom>
          <a:noFill/>
        </p:spPr>
        <p:txBody>
          <a:bodyPr wrap="square" rtlCol="0">
            <a:spAutoFit/>
          </a:bodyPr>
          <a:lstStyle/>
          <a:p>
            <a:r>
              <a:rPr lang="en-US" dirty="0">
                <a:solidFill>
                  <a:schemeClr val="bg1"/>
                </a:solidFill>
              </a:rPr>
              <a:t>Fixed by ensuring collection initialization and null checks before dereference.</a:t>
            </a:r>
          </a:p>
        </p:txBody>
      </p:sp>
      <p:pic>
        <p:nvPicPr>
          <p:cNvPr id="11" name="Picture 10">
            <a:extLst>
              <a:ext uri="{FF2B5EF4-FFF2-40B4-BE49-F238E27FC236}">
                <a16:creationId xmlns:a16="http://schemas.microsoft.com/office/drawing/2014/main" id="{7B3B9D44-3B64-9F99-597A-0710C90CAEFA}"/>
              </a:ext>
            </a:extLst>
          </p:cNvPr>
          <p:cNvPicPr>
            <a:picLocks noChangeAspect="1"/>
          </p:cNvPicPr>
          <p:nvPr/>
        </p:nvPicPr>
        <p:blipFill>
          <a:blip r:embed="rId7"/>
          <a:stretch>
            <a:fillRect/>
          </a:stretch>
        </p:blipFill>
        <p:spPr>
          <a:xfrm>
            <a:off x="6123015" y="3021623"/>
            <a:ext cx="4744112" cy="1400370"/>
          </a:xfrm>
          <a:prstGeom prst="rect">
            <a:avLst/>
          </a:prstGeom>
        </p:spPr>
      </p:pic>
      <p:pic>
        <p:nvPicPr>
          <p:cNvPr id="13" name="Picture 12">
            <a:extLst>
              <a:ext uri="{FF2B5EF4-FFF2-40B4-BE49-F238E27FC236}">
                <a16:creationId xmlns:a16="http://schemas.microsoft.com/office/drawing/2014/main" id="{C7C5BE54-A7BC-AAC1-46AF-DF3CE7826318}"/>
              </a:ext>
            </a:extLst>
          </p:cNvPr>
          <p:cNvPicPr>
            <a:picLocks noChangeAspect="1"/>
          </p:cNvPicPr>
          <p:nvPr/>
        </p:nvPicPr>
        <p:blipFill>
          <a:blip r:embed="rId8"/>
          <a:stretch>
            <a:fillRect/>
          </a:stretch>
        </p:blipFill>
        <p:spPr>
          <a:xfrm>
            <a:off x="6123015" y="4583689"/>
            <a:ext cx="4782217" cy="428685"/>
          </a:xfrm>
          <a:prstGeom prst="rect">
            <a:avLst/>
          </a:prstGeom>
        </p:spPr>
      </p:pic>
      <p:pic>
        <p:nvPicPr>
          <p:cNvPr id="26" name="Graphic 25">
            <a:extLst>
              <a:ext uri="{FF2B5EF4-FFF2-40B4-BE49-F238E27FC236}">
                <a16:creationId xmlns:a16="http://schemas.microsoft.com/office/drawing/2014/main" id="{B09728A1-F775-7895-F98C-16C65227569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3857938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CA06436-C4F7-A4E5-42C0-82ECFC0380F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B730E7F-BB54-C61A-94C3-768AB02D70F1}"/>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200B8D4E-E157-C24E-B19F-782A07E67567}"/>
              </a:ext>
            </a:extLst>
          </p:cNvPr>
          <p:cNvSpPr txBox="1">
            <a:spLocks noGrp="1"/>
          </p:cNvSpPr>
          <p:nvPr>
            <p:ph type="body" idx="1"/>
          </p:nvPr>
        </p:nvSpPr>
        <p:spPr>
          <a:xfrm>
            <a:off x="746022" y="1778137"/>
            <a:ext cx="10699955" cy="5584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err="1"/>
              <a:t>AtThrowsOutOfRange</a:t>
            </a:r>
            <a:r>
              <a:rPr lang="en-US" dirty="0"/>
              <a:t> – STD-003</a:t>
            </a:r>
            <a:endParaRPr dirty="0"/>
          </a:p>
        </p:txBody>
      </p:sp>
      <p:pic>
        <p:nvPicPr>
          <p:cNvPr id="197" name="Google Shape;197;g9504e29505_0_0" descr="Green Pace logo">
            <a:extLst>
              <a:ext uri="{FF2B5EF4-FFF2-40B4-BE49-F238E27FC236}">
                <a16:creationId xmlns:a16="http://schemas.microsoft.com/office/drawing/2014/main" id="{D793A304-33BA-4439-F5EC-C99B6598714E}"/>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8D0D3C37-0D69-FC21-012E-59A6F4533817}"/>
              </a:ext>
            </a:extLst>
          </p:cNvPr>
          <p:cNvSpPr txBox="1"/>
          <p:nvPr/>
        </p:nvSpPr>
        <p:spPr>
          <a:xfrm>
            <a:off x="717755" y="2605548"/>
            <a:ext cx="5378245" cy="307777"/>
          </a:xfrm>
          <a:prstGeom prst="rect">
            <a:avLst/>
          </a:prstGeom>
          <a:noFill/>
        </p:spPr>
        <p:txBody>
          <a:bodyPr wrap="square" rtlCol="0">
            <a:spAutoFit/>
          </a:bodyPr>
          <a:lstStyle/>
          <a:p>
            <a:r>
              <a:rPr lang="en-US" dirty="0">
                <a:solidFill>
                  <a:schemeClr val="bg1"/>
                </a:solidFill>
              </a:rPr>
              <a:t>No exception for out-of-range index</a:t>
            </a:r>
          </a:p>
        </p:txBody>
      </p:sp>
      <p:pic>
        <p:nvPicPr>
          <p:cNvPr id="4" name="Picture 3">
            <a:extLst>
              <a:ext uri="{FF2B5EF4-FFF2-40B4-BE49-F238E27FC236}">
                <a16:creationId xmlns:a16="http://schemas.microsoft.com/office/drawing/2014/main" id="{93A4E46A-5428-4D90-9300-CE34B604C6AD}"/>
              </a:ext>
            </a:extLst>
          </p:cNvPr>
          <p:cNvPicPr>
            <a:picLocks noChangeAspect="1"/>
          </p:cNvPicPr>
          <p:nvPr/>
        </p:nvPicPr>
        <p:blipFill>
          <a:blip r:embed="rId5"/>
          <a:stretch>
            <a:fillRect/>
          </a:stretch>
        </p:blipFill>
        <p:spPr>
          <a:xfrm>
            <a:off x="599768" y="2913325"/>
            <a:ext cx="5820696" cy="1789366"/>
          </a:xfrm>
          <a:prstGeom prst="rect">
            <a:avLst/>
          </a:prstGeom>
        </p:spPr>
      </p:pic>
      <p:sp>
        <p:nvSpPr>
          <p:cNvPr id="5" name="TextBox 4">
            <a:extLst>
              <a:ext uri="{FF2B5EF4-FFF2-40B4-BE49-F238E27FC236}">
                <a16:creationId xmlns:a16="http://schemas.microsoft.com/office/drawing/2014/main" id="{1E979FF3-467B-6739-3C3B-241F90B2B2E0}"/>
              </a:ext>
            </a:extLst>
          </p:cNvPr>
          <p:cNvSpPr txBox="1"/>
          <p:nvPr/>
        </p:nvSpPr>
        <p:spPr>
          <a:xfrm>
            <a:off x="6656439" y="2336609"/>
            <a:ext cx="4611329" cy="523220"/>
          </a:xfrm>
          <a:prstGeom prst="rect">
            <a:avLst/>
          </a:prstGeom>
          <a:noFill/>
        </p:spPr>
        <p:txBody>
          <a:bodyPr wrap="square" rtlCol="0">
            <a:spAutoFit/>
          </a:bodyPr>
          <a:lstStyle/>
          <a:p>
            <a:r>
              <a:rPr lang="en-US" dirty="0">
                <a:solidFill>
                  <a:schemeClr val="bg1"/>
                </a:solidFill>
              </a:rPr>
              <a:t>Fixed by using proper index checks or catch the exception.</a:t>
            </a:r>
          </a:p>
        </p:txBody>
      </p:sp>
      <p:pic>
        <p:nvPicPr>
          <p:cNvPr id="7" name="Picture 6">
            <a:extLst>
              <a:ext uri="{FF2B5EF4-FFF2-40B4-BE49-F238E27FC236}">
                <a16:creationId xmlns:a16="http://schemas.microsoft.com/office/drawing/2014/main" id="{43438C9F-FC1A-C242-D074-65D86CF28AC8}"/>
              </a:ext>
            </a:extLst>
          </p:cNvPr>
          <p:cNvPicPr>
            <a:picLocks noChangeAspect="1"/>
          </p:cNvPicPr>
          <p:nvPr/>
        </p:nvPicPr>
        <p:blipFill>
          <a:blip r:embed="rId6"/>
          <a:stretch>
            <a:fillRect/>
          </a:stretch>
        </p:blipFill>
        <p:spPr>
          <a:xfrm>
            <a:off x="6656439" y="2937818"/>
            <a:ext cx="4706007" cy="1314633"/>
          </a:xfrm>
          <a:prstGeom prst="rect">
            <a:avLst/>
          </a:prstGeom>
        </p:spPr>
      </p:pic>
      <p:pic>
        <p:nvPicPr>
          <p:cNvPr id="9" name="Picture 8">
            <a:extLst>
              <a:ext uri="{FF2B5EF4-FFF2-40B4-BE49-F238E27FC236}">
                <a16:creationId xmlns:a16="http://schemas.microsoft.com/office/drawing/2014/main" id="{8B49FB38-3628-B597-7F21-127C12B5F1F6}"/>
              </a:ext>
            </a:extLst>
          </p:cNvPr>
          <p:cNvPicPr>
            <a:picLocks noChangeAspect="1"/>
          </p:cNvPicPr>
          <p:nvPr/>
        </p:nvPicPr>
        <p:blipFill>
          <a:blip r:embed="rId7"/>
          <a:stretch>
            <a:fillRect/>
          </a:stretch>
        </p:blipFill>
        <p:spPr>
          <a:xfrm>
            <a:off x="717755" y="5865750"/>
            <a:ext cx="10336067" cy="724001"/>
          </a:xfrm>
          <a:prstGeom prst="rect">
            <a:avLst/>
          </a:prstGeom>
        </p:spPr>
      </p:pic>
      <p:pic>
        <p:nvPicPr>
          <p:cNvPr id="11" name="Picture 10">
            <a:extLst>
              <a:ext uri="{FF2B5EF4-FFF2-40B4-BE49-F238E27FC236}">
                <a16:creationId xmlns:a16="http://schemas.microsoft.com/office/drawing/2014/main" id="{9D9E8A99-D266-008E-5D68-FAC6728A61B9}"/>
              </a:ext>
            </a:extLst>
          </p:cNvPr>
          <p:cNvPicPr>
            <a:picLocks noChangeAspect="1"/>
          </p:cNvPicPr>
          <p:nvPr/>
        </p:nvPicPr>
        <p:blipFill>
          <a:blip r:embed="rId8"/>
          <a:stretch>
            <a:fillRect/>
          </a:stretch>
        </p:blipFill>
        <p:spPr>
          <a:xfrm>
            <a:off x="6465912" y="4800628"/>
            <a:ext cx="5087060" cy="381053"/>
          </a:xfrm>
          <a:prstGeom prst="rect">
            <a:avLst/>
          </a:prstGeom>
        </p:spPr>
      </p:pic>
      <p:pic>
        <p:nvPicPr>
          <p:cNvPr id="22" name="Graphic 21">
            <a:extLst>
              <a:ext uri="{FF2B5EF4-FFF2-40B4-BE49-F238E27FC236}">
                <a16:creationId xmlns:a16="http://schemas.microsoft.com/office/drawing/2014/main" id="{DC09E1F6-312D-5DEC-BAF2-AA8264071DF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747482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1093A11-FED2-2B13-7DDB-FA219151F9E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7B87EC96-E807-A2DC-6DFD-FCC4156528F2}"/>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BFE68F34-6190-73A8-CB87-A2FFA848831E}"/>
              </a:ext>
            </a:extLst>
          </p:cNvPr>
          <p:cNvSpPr txBox="1">
            <a:spLocks noGrp="1"/>
          </p:cNvSpPr>
          <p:nvPr>
            <p:ph type="body" idx="1"/>
          </p:nvPr>
        </p:nvSpPr>
        <p:spPr>
          <a:xfrm>
            <a:off x="685800" y="1719143"/>
            <a:ext cx="10398274" cy="67645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err="1"/>
              <a:t>ResizeToZero</a:t>
            </a:r>
            <a:r>
              <a:rPr lang="en-US" dirty="0"/>
              <a:t> – STD-005</a:t>
            </a:r>
            <a:endParaRPr dirty="0"/>
          </a:p>
        </p:txBody>
      </p:sp>
      <p:pic>
        <p:nvPicPr>
          <p:cNvPr id="197" name="Google Shape;197;g9504e29505_0_0" descr="Green Pace logo">
            <a:extLst>
              <a:ext uri="{FF2B5EF4-FFF2-40B4-BE49-F238E27FC236}">
                <a16:creationId xmlns:a16="http://schemas.microsoft.com/office/drawing/2014/main" id="{AE2C687F-B683-CD9F-EE3D-75BEF400964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8C46BE08-3EB6-0C6E-366E-1D92EE5EE02A}"/>
              </a:ext>
            </a:extLst>
          </p:cNvPr>
          <p:cNvSpPr txBox="1"/>
          <p:nvPr/>
        </p:nvSpPr>
        <p:spPr>
          <a:xfrm>
            <a:off x="589935" y="2431995"/>
            <a:ext cx="5171768" cy="307777"/>
          </a:xfrm>
          <a:prstGeom prst="rect">
            <a:avLst/>
          </a:prstGeom>
          <a:noFill/>
        </p:spPr>
        <p:txBody>
          <a:bodyPr wrap="square" rtlCol="0">
            <a:spAutoFit/>
          </a:bodyPr>
          <a:lstStyle/>
          <a:p>
            <a:r>
              <a:rPr lang="en-US" dirty="0">
                <a:solidFill>
                  <a:schemeClr val="bg1"/>
                </a:solidFill>
              </a:rPr>
              <a:t>Post-resize size/capacity state assumed incorrectly.</a:t>
            </a:r>
          </a:p>
        </p:txBody>
      </p:sp>
      <p:pic>
        <p:nvPicPr>
          <p:cNvPr id="4" name="Picture 3">
            <a:extLst>
              <a:ext uri="{FF2B5EF4-FFF2-40B4-BE49-F238E27FC236}">
                <a16:creationId xmlns:a16="http://schemas.microsoft.com/office/drawing/2014/main" id="{42597DA8-882F-1C99-2C57-811558FE953A}"/>
              </a:ext>
            </a:extLst>
          </p:cNvPr>
          <p:cNvPicPr>
            <a:picLocks noChangeAspect="1"/>
          </p:cNvPicPr>
          <p:nvPr/>
        </p:nvPicPr>
        <p:blipFill>
          <a:blip r:embed="rId5"/>
          <a:stretch>
            <a:fillRect/>
          </a:stretch>
        </p:blipFill>
        <p:spPr>
          <a:xfrm>
            <a:off x="627526" y="2803439"/>
            <a:ext cx="5096586" cy="1552792"/>
          </a:xfrm>
          <a:prstGeom prst="rect">
            <a:avLst/>
          </a:prstGeom>
        </p:spPr>
      </p:pic>
      <p:pic>
        <p:nvPicPr>
          <p:cNvPr id="6" name="Picture 5">
            <a:extLst>
              <a:ext uri="{FF2B5EF4-FFF2-40B4-BE49-F238E27FC236}">
                <a16:creationId xmlns:a16="http://schemas.microsoft.com/office/drawing/2014/main" id="{4BEBAF3A-E4DB-586A-9872-7B9841A46543}"/>
              </a:ext>
            </a:extLst>
          </p:cNvPr>
          <p:cNvPicPr>
            <a:picLocks noChangeAspect="1"/>
          </p:cNvPicPr>
          <p:nvPr/>
        </p:nvPicPr>
        <p:blipFill>
          <a:blip r:embed="rId6"/>
          <a:stretch>
            <a:fillRect/>
          </a:stretch>
        </p:blipFill>
        <p:spPr>
          <a:xfrm>
            <a:off x="589935" y="5440526"/>
            <a:ext cx="10450383" cy="1066949"/>
          </a:xfrm>
          <a:prstGeom prst="rect">
            <a:avLst/>
          </a:prstGeom>
        </p:spPr>
      </p:pic>
      <p:sp>
        <p:nvSpPr>
          <p:cNvPr id="7" name="TextBox 6">
            <a:extLst>
              <a:ext uri="{FF2B5EF4-FFF2-40B4-BE49-F238E27FC236}">
                <a16:creationId xmlns:a16="http://schemas.microsoft.com/office/drawing/2014/main" id="{865BDE85-A5D1-D6BC-EDBE-A1EC68A9AF1E}"/>
              </a:ext>
            </a:extLst>
          </p:cNvPr>
          <p:cNvSpPr txBox="1"/>
          <p:nvPr/>
        </p:nvSpPr>
        <p:spPr>
          <a:xfrm>
            <a:off x="5836885" y="2335683"/>
            <a:ext cx="5171768" cy="523220"/>
          </a:xfrm>
          <a:prstGeom prst="rect">
            <a:avLst/>
          </a:prstGeom>
          <a:noFill/>
        </p:spPr>
        <p:txBody>
          <a:bodyPr wrap="square" rtlCol="0">
            <a:spAutoFit/>
          </a:bodyPr>
          <a:lstStyle/>
          <a:p>
            <a:r>
              <a:rPr lang="en-US" dirty="0">
                <a:solidFill>
                  <a:schemeClr val="bg1"/>
                </a:solidFill>
              </a:rPr>
              <a:t>Fix by correctly handling resize results and checking allocation where relevant.</a:t>
            </a:r>
          </a:p>
        </p:txBody>
      </p:sp>
      <p:pic>
        <p:nvPicPr>
          <p:cNvPr id="9" name="Picture 8">
            <a:extLst>
              <a:ext uri="{FF2B5EF4-FFF2-40B4-BE49-F238E27FC236}">
                <a16:creationId xmlns:a16="http://schemas.microsoft.com/office/drawing/2014/main" id="{9CCE6B39-07B4-056A-36F9-5ADC3EFBADB6}"/>
              </a:ext>
            </a:extLst>
          </p:cNvPr>
          <p:cNvPicPr>
            <a:picLocks noChangeAspect="1"/>
          </p:cNvPicPr>
          <p:nvPr/>
        </p:nvPicPr>
        <p:blipFill>
          <a:blip r:embed="rId7"/>
          <a:stretch>
            <a:fillRect/>
          </a:stretch>
        </p:blipFill>
        <p:spPr>
          <a:xfrm>
            <a:off x="6055475" y="2803440"/>
            <a:ext cx="4819721" cy="1552791"/>
          </a:xfrm>
          <a:prstGeom prst="rect">
            <a:avLst/>
          </a:prstGeom>
        </p:spPr>
      </p:pic>
      <p:pic>
        <p:nvPicPr>
          <p:cNvPr id="11" name="Picture 10">
            <a:extLst>
              <a:ext uri="{FF2B5EF4-FFF2-40B4-BE49-F238E27FC236}">
                <a16:creationId xmlns:a16="http://schemas.microsoft.com/office/drawing/2014/main" id="{47AB2B4F-D4AB-F404-BC77-8EB80DB069CA}"/>
              </a:ext>
            </a:extLst>
          </p:cNvPr>
          <p:cNvPicPr>
            <a:picLocks noChangeAspect="1"/>
          </p:cNvPicPr>
          <p:nvPr/>
        </p:nvPicPr>
        <p:blipFill>
          <a:blip r:embed="rId8"/>
          <a:stretch>
            <a:fillRect/>
          </a:stretch>
        </p:blipFill>
        <p:spPr>
          <a:xfrm>
            <a:off x="6131687" y="4726050"/>
            <a:ext cx="4582164" cy="362001"/>
          </a:xfrm>
          <a:prstGeom prst="rect">
            <a:avLst/>
          </a:prstGeom>
        </p:spPr>
      </p:pic>
      <p:pic>
        <p:nvPicPr>
          <p:cNvPr id="17" name="Graphic 16">
            <a:extLst>
              <a:ext uri="{FF2B5EF4-FFF2-40B4-BE49-F238E27FC236}">
                <a16:creationId xmlns:a16="http://schemas.microsoft.com/office/drawing/2014/main" id="{50B5171D-E09A-86B8-874A-4DE3DCE38F8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839138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7795448" y="1826340"/>
            <a:ext cx="4175227" cy="2783681"/>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2C3C17D4-9B90-466B-C00D-1F6ADF5948D0}"/>
              </a:ext>
            </a:extLst>
          </p:cNvPr>
          <p:cNvSpPr txBox="1"/>
          <p:nvPr/>
        </p:nvSpPr>
        <p:spPr>
          <a:xfrm>
            <a:off x="609600" y="1779638"/>
            <a:ext cx="7089058" cy="2893100"/>
          </a:xfrm>
          <a:prstGeom prst="rect">
            <a:avLst/>
          </a:prstGeom>
          <a:noFill/>
        </p:spPr>
        <p:txBody>
          <a:bodyPr wrap="square" rtlCol="0">
            <a:spAutoFit/>
          </a:bodyPr>
          <a:lstStyle/>
          <a:p>
            <a:r>
              <a:rPr lang="en-US" dirty="0">
                <a:solidFill>
                  <a:schemeClr val="bg1"/>
                </a:solidFill>
              </a:rPr>
              <a:t>Automation will be used to enforce and ensure compliance with the standards defined in this policy.</a:t>
            </a:r>
          </a:p>
          <a:p>
            <a:r>
              <a:rPr lang="en-US" dirty="0">
                <a:solidFill>
                  <a:schemeClr val="bg1"/>
                </a:solidFill>
              </a:rPr>
              <a:t>Automation will be embedded throughout the </a:t>
            </a:r>
            <a:r>
              <a:rPr lang="en-US" dirty="0" err="1">
                <a:solidFill>
                  <a:schemeClr val="bg1"/>
                </a:solidFill>
              </a:rPr>
              <a:t>DevSecOps</a:t>
            </a:r>
            <a:r>
              <a:rPr lang="en-US" dirty="0">
                <a:solidFill>
                  <a:schemeClr val="bg1"/>
                </a:solidFill>
              </a:rPr>
              <a:t> lifecycle to enforce compliance with secure coding standards. During the Plan and Create phases, developers will use IDE plugins such as </a:t>
            </a:r>
            <a:r>
              <a:rPr lang="en-US" dirty="0" err="1">
                <a:solidFill>
                  <a:schemeClr val="bg1"/>
                </a:solidFill>
              </a:rPr>
              <a:t>SonarLint</a:t>
            </a:r>
            <a:r>
              <a:rPr lang="en-US" dirty="0">
                <a:solidFill>
                  <a:schemeClr val="bg1"/>
                </a:solidFill>
              </a:rPr>
              <a:t> to detect vulnerabilities in real time. In the Verify phase, static application security testing tools like SonarQube and </a:t>
            </a:r>
            <a:r>
              <a:rPr lang="en-US" dirty="0" err="1">
                <a:solidFill>
                  <a:schemeClr val="bg1"/>
                </a:solidFill>
              </a:rPr>
              <a:t>CppCheck</a:t>
            </a:r>
            <a:r>
              <a:rPr lang="en-US" dirty="0">
                <a:solidFill>
                  <a:schemeClr val="bg1"/>
                </a:solidFill>
              </a:rPr>
              <a:t> will scan for vulnerabilities and insecure dependencies. In the Pre-Production phase, Dynamic Application Security testing tools will identify runtime vulnerabilities. During the release, code signing ensures integrity. In the Detect and Respond phases, monitoring tools like runtime application self-protection will provide continuous security monitoring. This ensures compliance and supports a defense-in-depth strategy.</a:t>
            </a:r>
          </a:p>
          <a:p>
            <a:r>
              <a:rPr lang="en-US" dirty="0">
                <a:solidFill>
                  <a:schemeClr val="bg1"/>
                </a:solidFill>
              </a:rPr>
              <a:t> already has </a:t>
            </a:r>
            <a:r>
              <a:rPr lang="en-US" dirty="0"/>
              <a:t>a well-established DevOps process and infrastructure. </a:t>
            </a:r>
          </a:p>
        </p:txBody>
      </p:sp>
      <p:pic>
        <p:nvPicPr>
          <p:cNvPr id="7" name="Graphic 6">
            <a:extLst>
              <a:ext uri="{FF2B5EF4-FFF2-40B4-BE49-F238E27FC236}">
                <a16:creationId xmlns:a16="http://schemas.microsoft.com/office/drawing/2014/main" id="{8B4EA0F3-F74F-D3D5-8F47-F2C4D6A62D8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Plan: threat modeling, track security work (Jira/GitHub).</a:t>
            </a:r>
          </a:p>
          <a:p>
            <a:r>
              <a:rPr lang="en-US" dirty="0"/>
              <a:t>Create: IDE checks &amp; linters (</a:t>
            </a:r>
            <a:r>
              <a:rPr lang="en-US" dirty="0" err="1"/>
              <a:t>SonarLint</a:t>
            </a:r>
            <a:r>
              <a:rPr lang="en-US" dirty="0"/>
              <a:t>, clang-tidy, </a:t>
            </a:r>
            <a:r>
              <a:rPr lang="en-US" dirty="0" err="1"/>
              <a:t>Cppcheck</a:t>
            </a:r>
            <a:r>
              <a:rPr lang="en-US" dirty="0"/>
              <a:t>).</a:t>
            </a:r>
          </a:p>
          <a:p>
            <a:r>
              <a:rPr lang="en-US" dirty="0"/>
              <a:t>Verify/CI: build, unit tests, SAST, sanitizers (</a:t>
            </a:r>
            <a:r>
              <a:rPr lang="en-US" dirty="0" err="1"/>
              <a:t>GoogleTest</a:t>
            </a:r>
            <a:r>
              <a:rPr lang="en-US" dirty="0"/>
              <a:t>, </a:t>
            </a:r>
            <a:r>
              <a:rPr lang="en-US" dirty="0" err="1"/>
              <a:t>CodeSonar</a:t>
            </a:r>
            <a:r>
              <a:rPr lang="en-US" dirty="0"/>
              <a:t>, </a:t>
            </a:r>
            <a:r>
              <a:rPr lang="en-US" dirty="0" err="1"/>
              <a:t>ASan</a:t>
            </a:r>
            <a:r>
              <a:rPr lang="en-US" dirty="0"/>
              <a:t>/</a:t>
            </a:r>
            <a:r>
              <a:rPr lang="en-US" dirty="0" err="1"/>
              <a:t>UBSan</a:t>
            </a:r>
            <a:r>
              <a:rPr lang="en-US" dirty="0"/>
              <a:t>) — fail on critical findings.</a:t>
            </a:r>
          </a:p>
          <a:p>
            <a:r>
              <a:rPr lang="en-US" dirty="0"/>
              <a:t>Pre‑prod: DAST &amp; fuzzing (OWASP ZAP, </a:t>
            </a:r>
            <a:r>
              <a:rPr lang="en-US" dirty="0" err="1"/>
              <a:t>libFuzzer</a:t>
            </a:r>
            <a:r>
              <a:rPr lang="en-US" dirty="0"/>
              <a:t>) and dependency scans (</a:t>
            </a:r>
            <a:r>
              <a:rPr lang="en-US" dirty="0" err="1"/>
              <a:t>Snyk</a:t>
            </a:r>
            <a:r>
              <a:rPr lang="en-US" dirty="0"/>
              <a:t>).</a:t>
            </a:r>
          </a:p>
          <a:p>
            <a:r>
              <a:rPr lang="en-US" dirty="0"/>
              <a:t>Release/Operate: image scans, code signing, runtime monitoring (</a:t>
            </a:r>
            <a:r>
              <a:rPr lang="en-US" dirty="0" err="1"/>
              <a:t>Trivy</a:t>
            </a:r>
            <a:r>
              <a:rPr lang="en-US" dirty="0"/>
              <a:t>, SBOM, SIEM, RASP).</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Graphic 5">
            <a:extLst>
              <a:ext uri="{FF2B5EF4-FFF2-40B4-BE49-F238E27FC236}">
                <a16:creationId xmlns:a16="http://schemas.microsoft.com/office/drawing/2014/main" id="{BB7148B9-E6D9-5A84-D7A5-070EBACF726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Problems to Solutions: high-risk bugs (nulls, overflows, ownership, races) should enforce standards, SAST, unit tests, sanitizers.</a:t>
            </a:r>
          </a:p>
          <a:p>
            <a:r>
              <a:rPr lang="en-US" dirty="0"/>
              <a:t>Acting now: fewer breaches, lower fix cost; if you wait: exploits, higher remediation and compliance risk.</a:t>
            </a:r>
          </a:p>
          <a:p>
            <a:r>
              <a:rPr lang="en-US" dirty="0"/>
              <a:t>Lacking: CI enforcement for ownership/concurrency checks and runtime protection, causing issues later in development.</a:t>
            </a:r>
          </a:p>
          <a:p>
            <a:r>
              <a:rPr lang="en-US" dirty="0"/>
              <a:t>Strategy risks: tool noise and upfront cost can be much, but are mitigated with phased rollout, and tuning will save money down the line.</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Graphic 5">
            <a:extLst>
              <a:ext uri="{FF2B5EF4-FFF2-40B4-BE49-F238E27FC236}">
                <a16:creationId xmlns:a16="http://schemas.microsoft.com/office/drawing/2014/main" id="{C6674D10-C7FA-0C86-FFE6-60452775C46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1"/>
            <a:ext cx="10820400" cy="2456098"/>
          </a:xfrm>
          <a:prstGeom prst="rect">
            <a:avLst/>
          </a:prstGeom>
          <a:noFill/>
          <a:ln>
            <a:noFill/>
          </a:ln>
        </p:spPr>
        <p:txBody>
          <a:bodyPr spcFirstLastPara="1" wrap="square" lIns="91425" tIns="45700" rIns="91425" bIns="45700" anchor="t" anchorCtr="0">
            <a:normAutofit/>
          </a:bodyPr>
          <a:lstStyle/>
          <a:p>
            <a:pPr marL="1143000" lvl="2" indent="-228600">
              <a:spcBef>
                <a:spcPts val="0"/>
              </a:spcBef>
            </a:pPr>
            <a:r>
              <a:rPr lang="en-US" dirty="0"/>
              <a:t>Incomplete CI enforcement for ownership, allocation, and concurrency rules.</a:t>
            </a:r>
          </a:p>
          <a:p>
            <a:pPr marL="1600200" lvl="3" indent="-228600">
              <a:spcBef>
                <a:spcPts val="0"/>
              </a:spcBef>
            </a:pPr>
            <a:r>
              <a:rPr lang="en-US" dirty="0"/>
              <a:t>Add SAST rules, sanitizer builds, and CI gating for MEM56/MEM52/CON52.</a:t>
            </a:r>
          </a:p>
          <a:p>
            <a:pPr marL="1143000" lvl="2" indent="-228600">
              <a:spcBef>
                <a:spcPts val="0"/>
              </a:spcBef>
            </a:pPr>
            <a:r>
              <a:rPr lang="en-US" dirty="0"/>
              <a:t>Limited developer training and secure templates.</a:t>
            </a:r>
          </a:p>
          <a:p>
            <a:pPr marL="1600200" lvl="3" indent="-228600">
              <a:spcBef>
                <a:spcPts val="0"/>
              </a:spcBef>
            </a:pPr>
            <a:r>
              <a:rPr lang="en-US" dirty="0"/>
              <a:t>Mandatory secure-coding training, secure project templates, and checklist-driven reviews</a:t>
            </a:r>
          </a:p>
          <a:p>
            <a:pPr marL="1600200" lvl="3" indent="-228600">
              <a:spcBef>
                <a:spcPts val="0"/>
              </a:spcBef>
            </a:pPr>
            <a:endParaRPr sz="10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Graphic 5">
            <a:extLst>
              <a:ext uri="{FF2B5EF4-FFF2-40B4-BE49-F238E27FC236}">
                <a16:creationId xmlns:a16="http://schemas.microsoft.com/office/drawing/2014/main" id="{97095679-CC7D-BDDF-33E4-31107CE2D25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82600">
              <a:buSzPts val="2200"/>
            </a:pPr>
            <a:r>
              <a:rPr lang="en-US" dirty="0"/>
              <a:t>SEI CERT C++ secure coding rules</a:t>
            </a:r>
          </a:p>
          <a:p>
            <a:pPr marL="482600">
              <a:buSzPts val="2200"/>
            </a:pPr>
            <a:r>
              <a:rPr lang="en-US" dirty="0"/>
              <a:t>CWE (common weakness enumeration) for threat mapping and tests</a:t>
            </a:r>
          </a:p>
          <a:p>
            <a:pPr marL="482600">
              <a:buSzPts val="2200"/>
            </a:pPr>
            <a:r>
              <a:rPr lang="en-US" dirty="0"/>
              <a:t>C++ Core Guidelines for modern safe C++ patterns</a:t>
            </a:r>
          </a:p>
          <a:p>
            <a:pPr marL="482600">
              <a:buSzPts val="2200"/>
            </a:pPr>
            <a:r>
              <a:rPr lang="en-US" dirty="0" err="1"/>
              <a:t>Cyptography</a:t>
            </a:r>
            <a:r>
              <a:rPr lang="en-US" dirty="0"/>
              <a:t> &amp; key-management standards </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Graphic 5">
            <a:extLst>
              <a:ext uri="{FF2B5EF4-FFF2-40B4-BE49-F238E27FC236}">
                <a16:creationId xmlns:a16="http://schemas.microsoft.com/office/drawing/2014/main" id="{0165D9E4-ED3A-C69B-25B4-01E3E1445A6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dirty="0"/>
              <a:t>Software Engineering Institute, Retrieved April 18, 2026. SEI CERT C++ Coding Standard. </a:t>
            </a:r>
            <a:r>
              <a:rPr lang="en-US" dirty="0">
                <a:hlinkClick r:id="rId4"/>
              </a:rPr>
              <a:t>https://cmu-sei.github.io/secure-coding-standards/sei-cert-cpp-coding-standard/</a:t>
            </a:r>
            <a:r>
              <a:rPr lang="en-US" dirty="0"/>
              <a:t> </a:t>
            </a:r>
          </a:p>
          <a:p>
            <a:pPr marL="228600" lvl="0" indent="-228600">
              <a:spcBef>
                <a:spcPts val="0"/>
              </a:spcBef>
              <a:buSzPts val="2200"/>
            </a:pPr>
            <a:r>
              <a:rPr lang="en-US" dirty="0"/>
              <a:t>Microsoft, Retrieved April 19, 2026. Security Best Practices for C++ </a:t>
            </a:r>
            <a:r>
              <a:rPr lang="en-US" dirty="0">
                <a:hlinkClick r:id="rId5"/>
              </a:rPr>
              <a:t>https://learn.microsoft.com/en-us/cpp/security/security-best-practices-for-cpp?view=msvc-170&amp;viewFallbackFrom=vs-2019</a:t>
            </a:r>
            <a:r>
              <a:rPr lang="en-US" dirty="0"/>
              <a:t> </a:t>
            </a:r>
          </a:p>
          <a:p>
            <a:pPr marL="228600" lvl="0" indent="-228600">
              <a:spcBef>
                <a:spcPts val="0"/>
              </a:spcBef>
              <a:buSzPts val="2200"/>
            </a:pPr>
            <a:r>
              <a:rPr lang="en-US" dirty="0"/>
              <a:t>Robert C. Seacord, September 2005. Secure Coding in C and C++. </a:t>
            </a:r>
            <a:r>
              <a:rPr lang="en-US" dirty="0">
                <a:hlinkClick r:id="rId6"/>
              </a:rPr>
              <a:t>https://learning.oreilly.com/library/view/secure-coding-in/9780768685923/?sso_link=yes&amp;sso_link_from=SNHU</a:t>
            </a:r>
            <a:endParaRPr lang="en-US" dirty="0"/>
          </a:p>
          <a:p>
            <a:pPr marL="228600" lvl="0" indent="-228600">
              <a:spcBef>
                <a:spcPts val="0"/>
              </a:spcBef>
              <a:buSzPts val="2200"/>
            </a:pPr>
            <a:endParaRPr lang="en-US" dirty="0"/>
          </a:p>
        </p:txBody>
      </p:sp>
      <p:pic>
        <p:nvPicPr>
          <p:cNvPr id="239" name="Google Shape;239;p14"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8" name="Graphic 7">
            <a:extLst>
              <a:ext uri="{FF2B5EF4-FFF2-40B4-BE49-F238E27FC236}">
                <a16:creationId xmlns:a16="http://schemas.microsoft.com/office/drawing/2014/main" id="{1E07D1F3-68B7-54F3-DADA-27BCC1F4CD2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8"/>
              </a:ext>
            </a:extLst>
          </a:blip>
          <a:stretch>
            <a:fillRect/>
          </a:stretch>
        </p:blipFill>
        <p:spPr>
          <a:xfrm>
            <a:off x="10052304" y="4718304"/>
            <a:ext cx="2057400" cy="2057400"/>
          </a:xfrm>
          <a:prstGeom prst="ellipse">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505</TotalTime>
  <Words>2300</Words>
  <Application>Microsoft Office PowerPoint</Application>
  <PresentationFormat>Widescreen</PresentationFormat>
  <Paragraphs>165</Paragraphs>
  <Slides>17</Slides>
  <Notes>17</Notes>
  <HiddenSlides>0</HiddenSlides>
  <MMClips>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Steven Davis</cp:lastModifiedBy>
  <cp:revision>32</cp:revision>
  <dcterms:created xsi:type="dcterms:W3CDTF">2020-08-19T17:59:24Z</dcterms:created>
  <dcterms:modified xsi:type="dcterms:W3CDTF">2026-04-19T22:08:14Z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